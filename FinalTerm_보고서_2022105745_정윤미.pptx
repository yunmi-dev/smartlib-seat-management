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2" r:id="rId5"/>
    <p:sldId id="273" r:id="rId6"/>
    <p:sldId id="260" r:id="rId7"/>
    <p:sldId id="261" r:id="rId8"/>
    <p:sldId id="262" r:id="rId9"/>
    <p:sldId id="275" r:id="rId10"/>
    <p:sldId id="263" r:id="rId11"/>
    <p:sldId id="264" r:id="rId12"/>
    <p:sldId id="266" r:id="rId13"/>
    <p:sldId id="270" r:id="rId14"/>
    <p:sldId id="274" r:id="rId15"/>
    <p:sldId id="271" r:id="rId16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29"/>
    <p:restoredTop sz="94684"/>
  </p:normalViewPr>
  <p:slideViewPr>
    <p:cSldViewPr snapToGrid="0">
      <p:cViewPr>
        <p:scale>
          <a:sx n="107" d="100"/>
          <a:sy n="107" d="100"/>
        </p:scale>
        <p:origin x="200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44CE2-B037-CEA0-55A5-6D5A71020D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01F84F-F19D-29AD-27BD-3C9278327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3EE4F-EE00-76CA-7A0E-DE4BDC81C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1D156-3489-F643-BC70-BB83862E4D40}" type="datetimeFigureOut">
              <a:rPr lang="en-KR" smtClean="0"/>
              <a:t>12/19/25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83634-536B-0DF8-CB6C-BFE74FB0C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9F842-9677-9A4E-4538-23FCA24E4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5BF-D703-5E4D-A444-B1B0AFCD5FE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130305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5AB8D-483F-D9E4-F708-CACD2171B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E5BF6-429C-239E-3F1F-9770ADB45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17376-B39A-EDC5-648E-CAF3C9A2A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1D156-3489-F643-BC70-BB83862E4D40}" type="datetimeFigureOut">
              <a:rPr lang="en-KR" smtClean="0"/>
              <a:t>12/19/25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C222E-1626-111B-4630-5994E1329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ED606-65B4-5F81-0A20-FDC98A94F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5BF-D703-5E4D-A444-B1B0AFCD5FE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95077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CEAD7-C196-003C-22F4-34B8F573C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CFF67-755C-37D5-9D44-4985B076A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A897B-D4C4-EDA1-2737-2599E8A02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1D156-3489-F643-BC70-BB83862E4D40}" type="datetimeFigureOut">
              <a:rPr lang="en-KR" smtClean="0"/>
              <a:t>12/19/25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A3EF3-DC40-FA13-162D-8892FB9EF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3781C-935D-6913-2D10-5AF3856B5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5BF-D703-5E4D-A444-B1B0AFCD5FE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042726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995D1-79DD-6CE6-EFA1-D6C6ABEC6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61116-E18C-4C13-D786-59B9B5E680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736FE-6FB8-07DF-F272-045975515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79046-32F7-4AA9-1DB5-47F8A0B41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1D156-3489-F643-BC70-BB83862E4D40}" type="datetimeFigureOut">
              <a:rPr lang="en-KR" smtClean="0"/>
              <a:t>12/19/25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2D482-E7A8-8F92-DD42-55E0E29A3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79372-7B50-8436-ACE2-9B678827E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5BF-D703-5E4D-A444-B1B0AFCD5FE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24189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E5AB9-91EB-F578-6151-0EDD9AE1D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07B980-4F45-0A88-6753-4E92B0EDB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B37445-539F-624B-4022-51B8B5BAA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B65167-AEE5-DC33-4B7D-5A9F95EF43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842349-567F-D3FF-2414-8A2DB01A12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2F7BE7-EB3D-7314-577A-8EE2F77A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1D156-3489-F643-BC70-BB83862E4D40}" type="datetimeFigureOut">
              <a:rPr lang="en-KR" smtClean="0"/>
              <a:t>12/19/25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BC25DB-C421-5058-D02D-E9FE503A9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39CE6B-42C8-B9D6-AD9E-D8DFA14A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5BF-D703-5E4D-A444-B1B0AFCD5FE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059136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E963E-C846-50DD-FE3E-17B28031C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12DDE7-4CD1-72F7-EC78-9050249B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1D156-3489-F643-BC70-BB83862E4D40}" type="datetimeFigureOut">
              <a:rPr lang="en-KR" smtClean="0"/>
              <a:t>12/19/25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22682D-C9AA-C8FD-505E-A723B4735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B232E1-5446-4A1E-8FB4-C5A35F921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5BF-D703-5E4D-A444-B1B0AFCD5FE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28013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03BCBE-C837-72F6-742B-D659610C7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1D156-3489-F643-BC70-BB83862E4D40}" type="datetimeFigureOut">
              <a:rPr lang="en-KR" smtClean="0"/>
              <a:t>12/19/25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FE2209-CB45-5DEE-E841-5B901D087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656F1-FAE4-FB92-DC39-7BF0AFC5B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5BF-D703-5E4D-A444-B1B0AFCD5FE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17948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2AC83-D2B0-FE4D-2264-DF67F0088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27322-9CF9-4C6A-11AE-1DC45B315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E3F5AC-7290-86D3-2A84-943D8A5B38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8E0FD2-7457-AD06-DC1D-95CAFED4C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1D156-3489-F643-BC70-BB83862E4D40}" type="datetimeFigureOut">
              <a:rPr lang="en-KR" smtClean="0"/>
              <a:t>12/19/25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5AA83-9159-632E-E868-0DBBE2AC0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B2CC7-A3D9-52E4-0159-00C327964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5BF-D703-5E4D-A444-B1B0AFCD5FE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18384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16DC9-7EA0-68A1-AA27-D9F72DFA7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67CC7A-EDBB-96C3-76C2-AB0B98E607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F431CB-035E-09FB-BF19-E6062B90F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789B1-22B7-4402-53F1-F0EAEE76A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1D156-3489-F643-BC70-BB83862E4D40}" type="datetimeFigureOut">
              <a:rPr lang="en-KR" smtClean="0"/>
              <a:t>12/19/25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BDE8B4-9872-0AE0-5793-B2C4A4BB8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D2E7D-0439-42B3-D0C7-B2C4BA898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5BF-D703-5E4D-A444-B1B0AFCD5FE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408163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1DDFE-84F2-2206-8A79-DAF0EDF99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C12A89-B32F-CC3A-7151-45EE0047F1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9ED27-3E8E-1532-769E-2617F404B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1D156-3489-F643-BC70-BB83862E4D40}" type="datetimeFigureOut">
              <a:rPr lang="en-KR" smtClean="0"/>
              <a:t>12/19/25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BC93F-BAD1-4B1C-EC21-1E478C33F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486F7-9864-E5C3-0BC3-044B46EE7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5BF-D703-5E4D-A444-B1B0AFCD5FE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83467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BF0942-BB54-0017-F675-4CAB282C02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BE4C0-DB4A-AEB0-5B08-196764FED5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D9249-1CAA-6B31-037E-145CB7128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1D156-3489-F643-BC70-BB83862E4D40}" type="datetimeFigureOut">
              <a:rPr lang="en-KR" smtClean="0"/>
              <a:t>12/19/25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DA6B8-CDA9-87EA-200C-AC212D74C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4DEC8-6511-057B-2722-FC5093E1F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55BF-D703-5E4D-A444-B1B0AFCD5FE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17074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841845-9F62-C382-4C89-9A336AD15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2133B7-6BC9-2B01-ED93-7507807D1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9E91E-1567-5A3F-B0E6-1ED0D19A3F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C1D156-3489-F643-BC70-BB83862E4D40}" type="datetimeFigureOut">
              <a:rPr lang="en-KR" smtClean="0"/>
              <a:t>12/19/25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9C4C7-09AC-5B44-EF5C-0BC0E2551D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5A8A2-252B-2AF2-C1F7-55F939B021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1455BF-D703-5E4D-A444-B1B0AFCD5FE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588172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nmi-dev/SmartLib-seat-management" TargetMode="External"/><Relationship Id="rId2" Type="http://schemas.openxmlformats.org/officeDocument/2006/relationships/hyperlink" Target="https://jeongyunmi2002.pythonanywhere.com/api_roo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1570-EE8E-2F45-83B0-C47FDE63E2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11246"/>
            <a:ext cx="9144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 err="1"/>
              <a:t>FinalTerm</a:t>
            </a:r>
            <a:r>
              <a:rPr lang="en-US" dirty="0"/>
              <a:t> </a:t>
            </a:r>
            <a:r>
              <a:rPr lang="ko-KR" altLang="en-US" dirty="0"/>
              <a:t>보고서</a:t>
            </a:r>
            <a:br>
              <a:rPr lang="en-US" dirty="0"/>
            </a:br>
            <a:r>
              <a:rPr lang="ko-KR" altLang="en-US" dirty="0"/>
              <a:t>제목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dirty="0" err="1"/>
              <a:t>SmartLib</a:t>
            </a:r>
            <a:br>
              <a:rPr lang="en-US" dirty="0"/>
            </a:br>
            <a:r>
              <a:rPr lang="ko-KR" altLang="en-US" dirty="0"/>
              <a:t>도서관 자동 퇴실 감지 시스템</a:t>
            </a:r>
            <a:endParaRPr lang="en-K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F1E27-1EE7-037D-57CE-B8A9EB980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2982" y="4695153"/>
            <a:ext cx="9144000" cy="1368398"/>
          </a:xfrm>
        </p:spPr>
        <p:txBody>
          <a:bodyPr>
            <a:normAutofit/>
          </a:bodyPr>
          <a:lstStyle/>
          <a:p>
            <a:pPr algn="r"/>
            <a:r>
              <a:rPr lang="ko-KR" altLang="en-US" dirty="0"/>
              <a:t>학번</a:t>
            </a:r>
            <a:r>
              <a:rPr lang="en-US" altLang="ko-KR" dirty="0"/>
              <a:t>:2022105745</a:t>
            </a:r>
          </a:p>
          <a:p>
            <a:pPr algn="r"/>
            <a:r>
              <a:rPr lang="ko-KR" altLang="en-US" dirty="0"/>
              <a:t>이름</a:t>
            </a:r>
            <a:r>
              <a:rPr lang="en-US" altLang="ko-KR" dirty="0"/>
              <a:t>:</a:t>
            </a:r>
            <a:r>
              <a:rPr lang="ko-KR" altLang="en-US" dirty="0"/>
              <a:t> 정윤미</a:t>
            </a:r>
            <a:endParaRPr lang="en-US" altLang="ko-KR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BC38CEF-3A8E-DC1C-38DA-8E2FBE400A36}"/>
              </a:ext>
            </a:extLst>
          </p:cNvPr>
          <p:cNvSpPr txBox="1">
            <a:spLocks/>
          </p:cNvSpPr>
          <p:nvPr/>
        </p:nvSpPr>
        <p:spPr>
          <a:xfrm>
            <a:off x="1717964" y="5841879"/>
            <a:ext cx="9144000" cy="1368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Mobile/</a:t>
            </a:r>
            <a:r>
              <a:rPr lang="en-US" dirty="0" err="1"/>
              <a:t>WebService</a:t>
            </a:r>
            <a:r>
              <a:rPr lang="en-US" dirty="0"/>
              <a:t> Project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23011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880F6-58FD-F42A-78DD-1E7864A64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2949-B8D2-A7DD-3674-1C4B2411D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요구조건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목적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필요성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기능 계획 </a:t>
            </a:r>
            <a:r>
              <a:rPr lang="en-US" altLang="ko-KR" dirty="0"/>
              <a:t>(</a:t>
            </a:r>
            <a:r>
              <a:rPr lang="ko-KR" altLang="en-US" dirty="0"/>
              <a:t>신규</a:t>
            </a:r>
            <a:r>
              <a:rPr lang="en-US" altLang="ko-KR" dirty="0"/>
              <a:t>/</a:t>
            </a:r>
            <a:r>
              <a:rPr lang="ko-KR" altLang="en-US" dirty="0"/>
              <a:t>추가 기능 중심</a:t>
            </a:r>
            <a:r>
              <a:rPr lang="en-US" altLang="ko-KR" dirty="0"/>
              <a:t>)</a:t>
            </a:r>
          </a:p>
          <a:p>
            <a:pPr>
              <a:lnSpc>
                <a:spcPct val="100000"/>
              </a:lnSpc>
            </a:pPr>
            <a:r>
              <a:rPr lang="ko-KR" altLang="en-US" dirty="0"/>
              <a:t>사용자 시나리오 </a:t>
            </a:r>
            <a:r>
              <a:rPr lang="en-US" altLang="ko-KR" dirty="0"/>
              <a:t>(</a:t>
            </a:r>
            <a:r>
              <a:rPr lang="en-US" dirty="0"/>
              <a:t>UI </a:t>
            </a:r>
            <a:r>
              <a:rPr lang="ko-KR" altLang="en-US" dirty="0"/>
              <a:t>구성</a:t>
            </a:r>
            <a:r>
              <a:rPr lang="en-US" altLang="ko-KR" dirty="0"/>
              <a:t>)</a:t>
            </a:r>
          </a:p>
          <a:p>
            <a:pPr>
              <a:lnSpc>
                <a:spcPct val="100000"/>
              </a:lnSpc>
            </a:pPr>
            <a:r>
              <a:rPr lang="ko-KR" altLang="en-US" dirty="0"/>
              <a:t>기대효과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18639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54836-5C4B-0E95-FFD5-21605E112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요구조건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62CAF-C54C-406C-1BE8-67B8E30B1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3787" y="1483998"/>
            <a:ext cx="10174778" cy="5133975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dirty="0"/>
              <a:t>요구조건 </a:t>
            </a:r>
            <a:r>
              <a:rPr lang="en-US" altLang="ko-KR" dirty="0"/>
              <a:t>- </a:t>
            </a:r>
            <a:r>
              <a:rPr lang="en-US" dirty="0"/>
              <a:t>Edge System (Python </a:t>
            </a:r>
            <a:r>
              <a:rPr lang="ko-KR" altLang="en-US" dirty="0"/>
              <a:t>기반</a:t>
            </a:r>
            <a:r>
              <a:rPr lang="en-US" altLang="ko-KR" dirty="0"/>
              <a:t>) 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r>
              <a:rPr lang="en-KR" dirty="0"/>
              <a:t>1-1. </a:t>
            </a:r>
            <a:r>
              <a:rPr lang="en-US" dirty="0"/>
              <a:t>YOLOv5 pretrained model </a:t>
            </a:r>
            <a:r>
              <a:rPr lang="ko-KR" altLang="en-US" dirty="0"/>
              <a:t>사용 </a:t>
            </a:r>
            <a:r>
              <a:rPr lang="en-US" altLang="ko-KR" dirty="0"/>
              <a:t>- </a:t>
            </a:r>
            <a:r>
              <a:rPr lang="en-US" dirty="0"/>
              <a:t>yolov5s.pt </a:t>
            </a:r>
            <a:r>
              <a:rPr lang="ko-KR" altLang="en-US" dirty="0"/>
              <a:t>모델 사용 </a:t>
            </a:r>
            <a:r>
              <a:rPr lang="en-US" altLang="ko-KR" dirty="0"/>
              <a:t>(</a:t>
            </a:r>
            <a:r>
              <a:rPr lang="en-US" dirty="0"/>
              <a:t>person detection)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KR" dirty="0"/>
              <a:t>1-2. </a:t>
            </a:r>
            <a:r>
              <a:rPr lang="en-US" dirty="0"/>
              <a:t>MS COCO 80</a:t>
            </a:r>
            <a:r>
              <a:rPr lang="ko-KR" altLang="en-US" dirty="0"/>
              <a:t>가지 객체 검출 </a:t>
            </a:r>
            <a:r>
              <a:rPr lang="en-US" altLang="ko-KR" dirty="0"/>
              <a:t>- </a:t>
            </a:r>
            <a:r>
              <a:rPr lang="en-US" dirty="0"/>
              <a:t>person </a:t>
            </a:r>
            <a:r>
              <a:rPr lang="ko-KR" altLang="en-US" dirty="0"/>
              <a:t>클래스</a:t>
            </a:r>
            <a:r>
              <a:rPr lang="en-US" altLang="ko-KR" dirty="0"/>
              <a:t>(</a:t>
            </a:r>
            <a:r>
              <a:rPr lang="en-US" dirty="0"/>
              <a:t>class 0)</a:t>
            </a:r>
            <a:r>
              <a:rPr lang="ko-KR" altLang="en-US" dirty="0"/>
              <a:t>만 필터링하여 사용 </a:t>
            </a: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r>
              <a:rPr lang="en-KR" dirty="0"/>
              <a:t>1-3. </a:t>
            </a:r>
            <a:r>
              <a:rPr lang="en-US" dirty="0"/>
              <a:t>Change Detection - </a:t>
            </a:r>
            <a:r>
              <a:rPr lang="ko-KR" altLang="en-US" dirty="0"/>
              <a:t>좌석 </a:t>
            </a:r>
            <a:r>
              <a:rPr lang="en-US" dirty="0"/>
              <a:t>ROI </a:t>
            </a:r>
            <a:r>
              <a:rPr lang="ko-KR" altLang="en-US" dirty="0"/>
              <a:t>내 사람 감지 → 상태 변화 감지 </a:t>
            </a: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r>
              <a:rPr lang="en-KR" dirty="0"/>
              <a:t>1-4. </a:t>
            </a:r>
            <a:r>
              <a:rPr lang="en-US" dirty="0"/>
              <a:t>HTTP RESTful API </a:t>
            </a:r>
            <a:r>
              <a:rPr lang="ko-KR" altLang="en-US" dirty="0"/>
              <a:t>사용 </a:t>
            </a:r>
            <a:r>
              <a:rPr lang="en-US" altLang="ko-KR" dirty="0"/>
              <a:t>- </a:t>
            </a:r>
            <a:r>
              <a:rPr lang="en-US" dirty="0"/>
              <a:t>POST /</a:t>
            </a:r>
            <a:r>
              <a:rPr lang="en-US" dirty="0" err="1"/>
              <a:t>api_root</a:t>
            </a:r>
            <a:r>
              <a:rPr lang="en-US" dirty="0"/>
              <a:t>/Seat/</a:t>
            </a:r>
            <a:r>
              <a:rPr lang="en-US" dirty="0" err="1"/>
              <a:t>update_from_edge</a:t>
            </a:r>
            <a:r>
              <a:rPr lang="en-US" dirty="0"/>
              <a:t>/ </a:t>
            </a:r>
            <a:r>
              <a:rPr lang="ko-KR" altLang="en-US" dirty="0"/>
              <a:t>호출 </a:t>
            </a: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r>
              <a:rPr lang="en-KR" dirty="0"/>
              <a:t>1-5. </a:t>
            </a:r>
            <a:r>
              <a:rPr lang="ko-KR" altLang="en-US" dirty="0"/>
              <a:t>신규 추가 기능 </a:t>
            </a: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/>
              <a:t>-</a:t>
            </a:r>
            <a:r>
              <a:rPr lang="ko-KR" altLang="en-US" dirty="0"/>
              <a:t>  좌석 </a:t>
            </a:r>
            <a:r>
              <a:rPr lang="en-US" dirty="0"/>
              <a:t>ROI </a:t>
            </a:r>
            <a:r>
              <a:rPr lang="ko-KR" altLang="en-US" dirty="0"/>
              <a:t>설정</a:t>
            </a:r>
            <a:r>
              <a:rPr lang="en-US" altLang="ko-KR" dirty="0"/>
              <a:t>: </a:t>
            </a:r>
            <a:r>
              <a:rPr lang="ko-KR" altLang="en-US" dirty="0"/>
              <a:t>화면을 </a:t>
            </a:r>
            <a:r>
              <a:rPr lang="en-US" altLang="ko-KR" dirty="0"/>
              <a:t>4</a:t>
            </a:r>
            <a:r>
              <a:rPr lang="ko-KR" altLang="en-US" dirty="0"/>
              <a:t>등분하여 각 좌석 영역 지정 </a:t>
            </a:r>
            <a:endParaRPr lang="en-US" altLang="ko-KR" dirty="0"/>
          </a:p>
          <a:p>
            <a:pPr>
              <a:lnSpc>
                <a:spcPct val="120000"/>
              </a:lnSpc>
              <a:buFontTx/>
              <a:buChar char="-"/>
            </a:pPr>
            <a:r>
              <a:rPr lang="ko-KR" altLang="en-US" dirty="0"/>
              <a:t>실시간 감지</a:t>
            </a:r>
            <a:r>
              <a:rPr lang="en-US" altLang="ko-KR" dirty="0"/>
              <a:t>: 5</a:t>
            </a:r>
            <a:r>
              <a:rPr lang="ko-KR" altLang="en-US" dirty="0"/>
              <a:t>초마다 서버에 감지 결과 전송 </a:t>
            </a:r>
            <a:endParaRPr lang="en-US" altLang="ko-KR" dirty="0"/>
          </a:p>
          <a:p>
            <a:pPr>
              <a:lnSpc>
                <a:spcPct val="120000"/>
              </a:lnSpc>
              <a:buFontTx/>
              <a:buChar char="-"/>
            </a:pPr>
            <a:r>
              <a:rPr lang="en-US" dirty="0"/>
              <a:t>ROI </a:t>
            </a:r>
            <a:r>
              <a:rPr lang="ko-KR" altLang="en-US" dirty="0"/>
              <a:t>시각화</a:t>
            </a:r>
            <a:r>
              <a:rPr lang="en-US" altLang="ko-KR" dirty="0"/>
              <a:t>: </a:t>
            </a:r>
            <a:r>
              <a:rPr lang="ko-KR" altLang="en-US" dirty="0"/>
              <a:t>화면에 좌석 박스 및 라벨 표시 </a:t>
            </a:r>
            <a:endParaRPr lang="en-US" altLang="ko-KR" dirty="0"/>
          </a:p>
          <a:p>
            <a:pPr>
              <a:lnSpc>
                <a:spcPct val="120000"/>
              </a:lnSpc>
              <a:buFontTx/>
              <a:buChar char="-"/>
            </a:pPr>
            <a:r>
              <a:rPr lang="en-US" dirty="0"/>
              <a:t>Person confidence score </a:t>
            </a:r>
            <a:r>
              <a:rPr lang="ko-KR" altLang="en-US" dirty="0"/>
              <a:t>표시 </a:t>
            </a:r>
            <a:r>
              <a:rPr lang="en-US" altLang="ko-KR" dirty="0"/>
              <a:t>(0.76)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61382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A8281-20D4-CB44-1019-A75D426DF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E98BC-6D66-F805-1BF3-D8E7B05DA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요구조건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F930C-B7BF-C7B6-5787-405DEB274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177" y="1957387"/>
            <a:ext cx="5003666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dirty="0"/>
              <a:t>요구조건 </a:t>
            </a:r>
            <a:r>
              <a:rPr lang="en-US" altLang="ko-KR" dirty="0"/>
              <a:t>- </a:t>
            </a:r>
            <a:r>
              <a:rPr lang="en-US" dirty="0"/>
              <a:t>Service System (Django </a:t>
            </a:r>
            <a:r>
              <a:rPr lang="ko-KR" altLang="en-US" dirty="0"/>
              <a:t>기반</a:t>
            </a:r>
            <a:r>
              <a:rPr lang="en-US" altLang="ko-KR" dirty="0"/>
              <a:t>)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r>
              <a:rPr lang="en-KR" dirty="0"/>
              <a:t>2-1. </a:t>
            </a:r>
            <a:r>
              <a:rPr lang="ko-KR" altLang="en-US" dirty="0"/>
              <a:t>사용자 보안 기능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dirty="0"/>
              <a:t>   </a:t>
            </a:r>
            <a:r>
              <a:rPr lang="en-US" altLang="ko-KR" dirty="0"/>
              <a:t>- </a:t>
            </a:r>
            <a:r>
              <a:rPr lang="en-US" dirty="0"/>
              <a:t>JWT </a:t>
            </a:r>
            <a:r>
              <a:rPr lang="ko-KR" altLang="en-US" dirty="0"/>
              <a:t>토큰 인증 </a:t>
            </a:r>
            <a:r>
              <a:rPr lang="en-US" altLang="ko-KR" dirty="0"/>
              <a:t>(/</a:t>
            </a:r>
            <a:r>
              <a:rPr lang="en-US" dirty="0" err="1"/>
              <a:t>api</a:t>
            </a:r>
            <a:r>
              <a:rPr lang="en-US" dirty="0"/>
              <a:t>-token-auth/)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</a:t>
            </a:r>
            <a:r>
              <a:rPr lang="ko-KR" altLang="en-US" dirty="0"/>
              <a:t> </a:t>
            </a:r>
            <a:r>
              <a:rPr lang="en-US" dirty="0"/>
              <a:t> - Username: </a:t>
            </a:r>
            <a:r>
              <a:rPr lang="en-US" dirty="0" err="1"/>
              <a:t>jeong-yunmi</a:t>
            </a: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KR" dirty="0"/>
              <a:t>2-2. </a:t>
            </a:r>
            <a:r>
              <a:rPr lang="en-US" dirty="0"/>
              <a:t>Image Blog </a:t>
            </a:r>
            <a:r>
              <a:rPr lang="ko-KR" altLang="en-US" dirty="0"/>
              <a:t>관리</a:t>
            </a: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dirty="0"/>
              <a:t>   </a:t>
            </a:r>
            <a:r>
              <a:rPr lang="en-US" altLang="ko-KR" dirty="0"/>
              <a:t>- </a:t>
            </a:r>
            <a:r>
              <a:rPr lang="ko-KR" altLang="en-US" dirty="0"/>
              <a:t>기존 </a:t>
            </a:r>
            <a:r>
              <a:rPr lang="en-US" dirty="0"/>
              <a:t>Post </a:t>
            </a:r>
            <a:r>
              <a:rPr lang="ko-KR" altLang="en-US" dirty="0"/>
              <a:t>모델 유지 </a:t>
            </a:r>
            <a:r>
              <a:rPr lang="en-US" altLang="ko-KR" dirty="0"/>
              <a:t>(</a:t>
            </a:r>
            <a:r>
              <a:rPr lang="ko-KR" altLang="en-US" dirty="0"/>
              <a:t>공통과제</a:t>
            </a:r>
            <a:r>
              <a:rPr lang="en-US" altLang="ko-KR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KR" dirty="0"/>
              <a:t>2-3. </a:t>
            </a:r>
            <a:r>
              <a:rPr lang="ko-KR" altLang="en-US" dirty="0"/>
              <a:t>게시용 </a:t>
            </a:r>
            <a:r>
              <a:rPr lang="en-US" dirty="0"/>
              <a:t>RESTful API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dirty="0"/>
              <a:t>  </a:t>
            </a:r>
            <a:r>
              <a:rPr lang="en-US" dirty="0"/>
              <a:t> - /</a:t>
            </a:r>
            <a:r>
              <a:rPr lang="en-US" dirty="0" err="1"/>
              <a:t>api_root</a:t>
            </a:r>
            <a:r>
              <a:rPr lang="en-US" dirty="0"/>
              <a:t>/Post/ </a:t>
            </a:r>
            <a:r>
              <a:rPr lang="ko-KR" altLang="en-US" dirty="0" err="1"/>
              <a:t>엔드포인트</a:t>
            </a:r>
            <a:endParaRPr lang="ko-KR" alt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AC3600D-3F50-925C-178D-2FA27AA6B087}"/>
              </a:ext>
            </a:extLst>
          </p:cNvPr>
          <p:cNvSpPr txBox="1">
            <a:spLocks/>
          </p:cNvSpPr>
          <p:nvPr/>
        </p:nvSpPr>
        <p:spPr>
          <a:xfrm>
            <a:off x="5623560" y="1212531"/>
            <a:ext cx="6659880" cy="553942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buNone/>
            </a:pPr>
            <a:r>
              <a:rPr lang="en-KR" dirty="0"/>
              <a:t>2-4. </a:t>
            </a:r>
            <a:r>
              <a:rPr lang="ko-KR" altLang="en-US" dirty="0"/>
              <a:t>신규 추가 기능 </a:t>
            </a:r>
            <a:endParaRPr lang="en-US" altLang="ko-KR" dirty="0"/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dirty="0"/>
              <a:t>• </a:t>
            </a:r>
            <a:r>
              <a:rPr lang="en-US" dirty="0"/>
              <a:t>Seat </a:t>
            </a:r>
            <a:r>
              <a:rPr lang="ko-KR" altLang="en-US" dirty="0"/>
              <a:t>모델 추가 </a:t>
            </a:r>
            <a:r>
              <a:rPr lang="en-US" altLang="ko-KR" dirty="0"/>
              <a:t>- </a:t>
            </a:r>
            <a:r>
              <a:rPr lang="en-US" dirty="0" err="1"/>
              <a:t>seat_number</a:t>
            </a:r>
            <a:r>
              <a:rPr lang="en-US" dirty="0"/>
              <a:t>, status, </a:t>
            </a:r>
            <a:r>
              <a:rPr lang="en-US" dirty="0" err="1"/>
              <a:t>user_name</a:t>
            </a:r>
            <a:r>
              <a:rPr lang="en-US" dirty="0"/>
              <a:t>, </a:t>
            </a:r>
            <a:r>
              <a:rPr lang="en-US" dirty="0" err="1"/>
              <a:t>reserved_at</a:t>
            </a:r>
            <a:r>
              <a:rPr lang="en-US" dirty="0"/>
              <a:t> - </a:t>
            </a:r>
            <a:r>
              <a:rPr lang="en-US" dirty="0" err="1"/>
              <a:t>last_detected_at</a:t>
            </a:r>
            <a:r>
              <a:rPr lang="en-US" dirty="0"/>
              <a:t>, </a:t>
            </a:r>
            <a:r>
              <a:rPr lang="en-US" dirty="0" err="1"/>
              <a:t>auto_released</a:t>
            </a:r>
            <a:r>
              <a:rPr lang="en-US" dirty="0"/>
              <a:t>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• </a:t>
            </a:r>
            <a:r>
              <a:rPr lang="ko-KR" altLang="en-US" dirty="0"/>
              <a:t>좌석 관리 </a:t>
            </a:r>
            <a:r>
              <a:rPr lang="en-US" dirty="0"/>
              <a:t>API - GET /</a:t>
            </a:r>
            <a:r>
              <a:rPr lang="en-US" dirty="0" err="1"/>
              <a:t>api_root</a:t>
            </a:r>
            <a:r>
              <a:rPr lang="en-US" dirty="0"/>
              <a:t>/Seat/ (</a:t>
            </a:r>
            <a:r>
              <a:rPr lang="ko-KR" altLang="en-US" dirty="0"/>
              <a:t>전체 좌석 조회</a:t>
            </a:r>
            <a:r>
              <a:rPr lang="en-US" altLang="ko-KR" dirty="0"/>
              <a:t>) - </a:t>
            </a:r>
            <a:r>
              <a:rPr lang="en-US" dirty="0"/>
              <a:t>POST /</a:t>
            </a:r>
            <a:r>
              <a:rPr lang="en-US" dirty="0" err="1"/>
              <a:t>api_root</a:t>
            </a:r>
            <a:r>
              <a:rPr lang="en-US" dirty="0"/>
              <a:t>/Seat/{id}/reserve/ (</a:t>
            </a:r>
            <a:r>
              <a:rPr lang="ko-KR" altLang="en-US" dirty="0"/>
              <a:t>예약</a:t>
            </a:r>
            <a:r>
              <a:rPr lang="en-US" altLang="ko-KR" dirty="0"/>
              <a:t>) - </a:t>
            </a:r>
            <a:r>
              <a:rPr lang="en-US" dirty="0"/>
              <a:t>POST /</a:t>
            </a:r>
            <a:r>
              <a:rPr lang="en-US" dirty="0" err="1"/>
              <a:t>api_root</a:t>
            </a:r>
            <a:r>
              <a:rPr lang="en-US" dirty="0"/>
              <a:t>/Seat/{id}/release/ (</a:t>
            </a:r>
            <a:r>
              <a:rPr lang="ko-KR" altLang="en-US" dirty="0"/>
              <a:t>수동 반납</a:t>
            </a:r>
            <a:r>
              <a:rPr lang="en-US" altLang="ko-KR" dirty="0"/>
              <a:t>)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ko-KR" dirty="0"/>
              <a:t>• </a:t>
            </a:r>
            <a:r>
              <a:rPr lang="en-US" dirty="0"/>
              <a:t>Edge </a:t>
            </a:r>
            <a:r>
              <a:rPr lang="ko-KR" altLang="en-US" dirty="0"/>
              <a:t>연동 </a:t>
            </a:r>
            <a:r>
              <a:rPr lang="en-US" dirty="0"/>
              <a:t>API - POST /</a:t>
            </a:r>
            <a:r>
              <a:rPr lang="en-US" dirty="0" err="1"/>
              <a:t>api_root</a:t>
            </a:r>
            <a:r>
              <a:rPr lang="en-US" dirty="0"/>
              <a:t>/Seat/</a:t>
            </a:r>
            <a:r>
              <a:rPr lang="en-US" dirty="0" err="1"/>
              <a:t>update_from_edge</a:t>
            </a:r>
            <a:r>
              <a:rPr lang="en-US" dirty="0"/>
              <a:t>/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• </a:t>
            </a:r>
            <a:r>
              <a:rPr lang="ko-KR" altLang="en-US" dirty="0"/>
              <a:t>자동 퇴실 </a:t>
            </a:r>
            <a:r>
              <a:rPr lang="en-US" dirty="0"/>
              <a:t>API - POST /</a:t>
            </a:r>
            <a:r>
              <a:rPr lang="en-US" dirty="0" err="1"/>
              <a:t>api_root</a:t>
            </a:r>
            <a:r>
              <a:rPr lang="en-US" dirty="0"/>
              <a:t>/Seat/</a:t>
            </a:r>
            <a:r>
              <a:rPr lang="en-US" dirty="0" err="1"/>
              <a:t>auto_release_check</a:t>
            </a:r>
            <a:r>
              <a:rPr lang="en-US" dirty="0"/>
              <a:t>/ - 15</a:t>
            </a:r>
            <a:r>
              <a:rPr lang="ko-KR" altLang="en-US" dirty="0"/>
              <a:t>분 이상 미감지 시 자동 퇴실 처리</a:t>
            </a:r>
          </a:p>
        </p:txBody>
      </p:sp>
    </p:spTree>
    <p:extLst>
      <p:ext uri="{BB962C8B-B14F-4D97-AF65-F5344CB8AC3E}">
        <p14:creationId xmlns:p14="http://schemas.microsoft.com/office/powerpoint/2010/main" val="2396259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A9FC8-AE0A-D8BC-CC6C-7ED5671AA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4E820-1114-E844-1666-EFC659526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요구조건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A3360-7D9B-8D53-3205-3E1E47DD3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617" y="1813281"/>
            <a:ext cx="4548787" cy="478647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2400" dirty="0"/>
              <a:t>요구조건 </a:t>
            </a:r>
            <a:r>
              <a:rPr lang="en-US" altLang="ko-KR" sz="2400" dirty="0"/>
              <a:t>- </a:t>
            </a:r>
            <a:r>
              <a:rPr lang="en-US" sz="2400" dirty="0"/>
              <a:t>Client System (Android Native App) </a:t>
            </a:r>
          </a:p>
          <a:p>
            <a:pPr marL="0" indent="0">
              <a:lnSpc>
                <a:spcPct val="100000"/>
              </a:lnSpc>
              <a:buNone/>
            </a:pPr>
            <a:endParaRPr lang="en-KR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KR" sz="2400" dirty="0"/>
              <a:t>3-1. </a:t>
            </a:r>
            <a:r>
              <a:rPr lang="en-US" sz="2400" dirty="0"/>
              <a:t>Image list view </a:t>
            </a:r>
            <a:r>
              <a:rPr lang="ko-KR" altLang="en-US" sz="2400" dirty="0"/>
              <a:t>기능 </a:t>
            </a:r>
            <a:r>
              <a:rPr lang="en-US" altLang="ko-KR" sz="2400" dirty="0"/>
              <a:t>- </a:t>
            </a:r>
            <a:r>
              <a:rPr lang="ko-KR" altLang="en-US" sz="2400" dirty="0"/>
              <a:t>기존 공통과제 유지 </a:t>
            </a:r>
            <a:endParaRPr lang="en-US" altLang="ko-KR" sz="2400" dirty="0"/>
          </a:p>
          <a:p>
            <a:pPr marL="0" indent="0">
              <a:lnSpc>
                <a:spcPct val="100000"/>
              </a:lnSpc>
              <a:buNone/>
            </a:pPr>
            <a:endParaRPr lang="en-KR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KR" sz="2400" dirty="0"/>
              <a:t>3-2. </a:t>
            </a:r>
            <a:r>
              <a:rPr lang="en-US" sz="2400" dirty="0"/>
              <a:t>HTTP RESTful API </a:t>
            </a:r>
            <a:r>
              <a:rPr lang="ko-KR" altLang="en-US" sz="2400" dirty="0"/>
              <a:t>사용 </a:t>
            </a:r>
            <a:r>
              <a:rPr lang="en-US" altLang="ko-KR" sz="2400" dirty="0"/>
              <a:t>- </a:t>
            </a:r>
            <a:r>
              <a:rPr lang="en-US" sz="2400" dirty="0"/>
              <a:t>Volley </a:t>
            </a:r>
            <a:r>
              <a:rPr lang="ko-KR" altLang="en-US" sz="2400" dirty="0"/>
              <a:t>라이브러리로 </a:t>
            </a:r>
            <a:r>
              <a:rPr lang="en-US" sz="2400" dirty="0"/>
              <a:t>GET /</a:t>
            </a:r>
            <a:r>
              <a:rPr lang="en-US" sz="2400" dirty="0" err="1"/>
              <a:t>api_root</a:t>
            </a:r>
            <a:r>
              <a:rPr lang="en-US" sz="2400" dirty="0"/>
              <a:t>/Seat/ </a:t>
            </a:r>
            <a:r>
              <a:rPr lang="ko-KR" altLang="en-US" sz="2400" dirty="0"/>
              <a:t>호출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D14625F-FF38-704D-7620-F9C8D2DB4DD0}"/>
              </a:ext>
            </a:extLst>
          </p:cNvPr>
          <p:cNvSpPr txBox="1">
            <a:spLocks/>
          </p:cNvSpPr>
          <p:nvPr/>
        </p:nvSpPr>
        <p:spPr>
          <a:xfrm>
            <a:off x="5044404" y="769301"/>
            <a:ext cx="7325868" cy="553942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KR" dirty="0"/>
              <a:t>3-3. </a:t>
            </a:r>
            <a:r>
              <a:rPr lang="ko-KR" altLang="en-US" dirty="0"/>
              <a:t>신규 추가 기능</a:t>
            </a:r>
            <a:endParaRPr lang="en-US" altLang="ko-KR" dirty="0"/>
          </a:p>
          <a:p>
            <a:pPr marL="0" indent="0">
              <a:lnSpc>
                <a:spcPct val="110000"/>
              </a:lnSpc>
              <a:buNone/>
            </a:pP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dirty="0"/>
              <a:t>• </a:t>
            </a:r>
            <a:r>
              <a:rPr lang="ko-KR" altLang="en-US" dirty="0"/>
              <a:t>좌석 배치도 </a:t>
            </a:r>
            <a:r>
              <a:rPr lang="en-US" dirty="0" err="1"/>
              <a:t>GridView</a:t>
            </a:r>
            <a:r>
              <a:rPr lang="en-US" dirty="0"/>
              <a:t> - 5x6 = 30</a:t>
            </a:r>
            <a:r>
              <a:rPr lang="ko-KR" altLang="en-US" dirty="0"/>
              <a:t>석 배치 </a:t>
            </a:r>
            <a:r>
              <a:rPr lang="en-US" altLang="ko-KR" dirty="0"/>
              <a:t>- </a:t>
            </a:r>
            <a:r>
              <a:rPr lang="ko-KR" altLang="en-US" dirty="0"/>
              <a:t>색상으로 상태 구분 초록색</a:t>
            </a:r>
            <a:r>
              <a:rPr lang="en-US" altLang="ko-KR" dirty="0"/>
              <a:t>: </a:t>
            </a:r>
            <a:r>
              <a:rPr lang="ko-KR" altLang="en-US" dirty="0"/>
              <a:t>사용 가능 </a:t>
            </a:r>
            <a:r>
              <a:rPr lang="en-US" altLang="ko-KR" dirty="0"/>
              <a:t>(</a:t>
            </a:r>
            <a:r>
              <a:rPr lang="en-US" dirty="0"/>
              <a:t>empty) </a:t>
            </a:r>
            <a:r>
              <a:rPr lang="ko-KR" altLang="en-US" dirty="0"/>
              <a:t>빨간색</a:t>
            </a:r>
            <a:r>
              <a:rPr lang="en-US" altLang="ko-KR" dirty="0"/>
              <a:t>: </a:t>
            </a:r>
            <a:r>
              <a:rPr lang="ko-KR" altLang="en-US" dirty="0"/>
              <a:t>사용 중 </a:t>
            </a:r>
            <a:r>
              <a:rPr lang="en-US" altLang="ko-KR" dirty="0"/>
              <a:t>(</a:t>
            </a:r>
            <a:r>
              <a:rPr lang="en-US" dirty="0"/>
              <a:t>occupied) </a:t>
            </a:r>
            <a:r>
              <a:rPr lang="ko-KR" altLang="en-US" dirty="0"/>
              <a:t>주황색</a:t>
            </a:r>
            <a:r>
              <a:rPr lang="en-US" altLang="ko-KR" dirty="0"/>
              <a:t>: </a:t>
            </a:r>
            <a:r>
              <a:rPr lang="ko-KR" altLang="en-US" dirty="0"/>
              <a:t>예약됨 </a:t>
            </a:r>
            <a:r>
              <a:rPr lang="en-US" altLang="ko-KR" dirty="0"/>
              <a:t>(</a:t>
            </a:r>
            <a:r>
              <a:rPr lang="en-US" dirty="0"/>
              <a:t>reserved)</a:t>
            </a:r>
          </a:p>
          <a:p>
            <a:pPr marL="0" indent="0">
              <a:lnSpc>
                <a:spcPct val="110000"/>
              </a:lnSpc>
              <a:buNone/>
            </a:pPr>
            <a:endParaRPr lang="en-US" altLang="ko-KR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dirty="0"/>
              <a:t>• </a:t>
            </a:r>
            <a:r>
              <a:rPr lang="ko-KR" altLang="en-US" dirty="0"/>
              <a:t>실시간 갱신 </a:t>
            </a:r>
            <a:r>
              <a:rPr lang="en-US" altLang="ko-KR" dirty="0"/>
              <a:t>- 5</a:t>
            </a:r>
            <a:r>
              <a:rPr lang="ko-KR" altLang="en-US" dirty="0"/>
              <a:t>초마다 자동 </a:t>
            </a:r>
            <a:r>
              <a:rPr lang="ko-KR" altLang="en-US" dirty="0" err="1"/>
              <a:t>새로고침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lnSpc>
                <a:spcPct val="110000"/>
              </a:lnSpc>
              <a:buNone/>
            </a:pPr>
            <a:endParaRPr lang="en-US" altLang="ko-KR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dirty="0"/>
              <a:t>• </a:t>
            </a:r>
            <a:r>
              <a:rPr lang="ko-KR" altLang="en-US" dirty="0"/>
              <a:t>통계 카드 </a:t>
            </a:r>
            <a:r>
              <a:rPr lang="en-US" altLang="ko-KR" dirty="0"/>
              <a:t>- </a:t>
            </a:r>
            <a:r>
              <a:rPr lang="ko-KR" altLang="en-US" dirty="0"/>
              <a:t>전체 좌석 수 </a:t>
            </a:r>
            <a:r>
              <a:rPr lang="en-US" altLang="ko-KR" dirty="0"/>
              <a:t>- </a:t>
            </a:r>
            <a:r>
              <a:rPr lang="ko-KR" altLang="en-US" dirty="0"/>
              <a:t>사용 중 좌석 수 </a:t>
            </a:r>
            <a:r>
              <a:rPr lang="en-US" altLang="ko-KR" dirty="0"/>
              <a:t>(</a:t>
            </a:r>
            <a:r>
              <a:rPr lang="ko-KR" altLang="en-US" dirty="0"/>
              <a:t>빨강</a:t>
            </a:r>
            <a:r>
              <a:rPr lang="en-US" altLang="ko-KR" dirty="0"/>
              <a:t>) - </a:t>
            </a:r>
            <a:r>
              <a:rPr lang="ko-KR" altLang="en-US" dirty="0"/>
              <a:t>사용 가능 좌석 수 </a:t>
            </a:r>
            <a:r>
              <a:rPr lang="en-US" altLang="ko-KR" dirty="0"/>
              <a:t>(</a:t>
            </a:r>
            <a:r>
              <a:rPr lang="ko-KR" altLang="en-US" dirty="0"/>
              <a:t>초록</a:t>
            </a:r>
            <a:r>
              <a:rPr lang="en-US" altLang="ko-KR" dirty="0"/>
              <a:t>) </a:t>
            </a:r>
          </a:p>
          <a:p>
            <a:pPr marL="0" indent="0">
              <a:lnSpc>
                <a:spcPct val="110000"/>
              </a:lnSpc>
              <a:buNone/>
            </a:pPr>
            <a:endParaRPr lang="en-US" altLang="ko-KR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dirty="0"/>
              <a:t>• </a:t>
            </a:r>
            <a:r>
              <a:rPr lang="ko-KR" altLang="en-US" dirty="0"/>
              <a:t>좌석 상세보기 </a:t>
            </a:r>
            <a:r>
              <a:rPr lang="en-US" altLang="ko-KR" dirty="0"/>
              <a:t>- </a:t>
            </a:r>
            <a:r>
              <a:rPr lang="ko-KR" altLang="en-US" dirty="0"/>
              <a:t>좌석 클릭 시 상태 토스트 메시지</a:t>
            </a:r>
          </a:p>
        </p:txBody>
      </p:sp>
    </p:spTree>
    <p:extLst>
      <p:ext uri="{BB962C8B-B14F-4D97-AF65-F5344CB8AC3E}">
        <p14:creationId xmlns:p14="http://schemas.microsoft.com/office/powerpoint/2010/main" val="859361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4717B-BA74-6F87-600C-75E0F5428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244"/>
            <a:ext cx="10515600" cy="1325563"/>
          </a:xfrm>
        </p:spPr>
        <p:txBody>
          <a:bodyPr/>
          <a:lstStyle/>
          <a:p>
            <a:r>
              <a:rPr lang="ko-KR" altLang="en-US" dirty="0"/>
              <a:t>목적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38DEA-F918-4C42-C1A6-0FB69DA04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553" y="1389000"/>
            <a:ext cx="11567160" cy="5791631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dirty="0"/>
              <a:t>프로젝트 목적 </a:t>
            </a:r>
            <a:r>
              <a:rPr lang="en-US" altLang="ko-KR" dirty="0"/>
              <a:t>:</a:t>
            </a:r>
            <a:r>
              <a:rPr lang="ko-KR" altLang="en-US" dirty="0"/>
              <a:t> 우리 학교 도서관 좌석 예약 시스템의 근본적인 문제 해결</a:t>
            </a: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/>
              <a:t>현재 시스템의 문제점</a:t>
            </a:r>
            <a:r>
              <a:rPr lang="en-US" altLang="ko-KR" dirty="0"/>
              <a:t>: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dirty="0"/>
              <a:t>   </a:t>
            </a:r>
            <a:r>
              <a:rPr lang="en-US" altLang="ko-KR" dirty="0"/>
              <a:t>- </a:t>
            </a:r>
            <a:r>
              <a:rPr lang="ko-KR" altLang="en-US" dirty="0"/>
              <a:t>퇴실 시 수동으로 퇴실 버튼을 눌러야만 좌석 반납 </a:t>
            </a: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dirty="0"/>
              <a:t>   </a:t>
            </a:r>
            <a:r>
              <a:rPr lang="en-US" altLang="ko-KR" dirty="0"/>
              <a:t>- </a:t>
            </a:r>
            <a:r>
              <a:rPr lang="ko-KR" altLang="en-US" dirty="0"/>
              <a:t>퇴실 버튼을 누르지 않고 퇴실하는 학생들 다수 존재 </a:t>
            </a: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dirty="0"/>
              <a:t>   </a:t>
            </a:r>
            <a:r>
              <a:rPr lang="en-US" altLang="ko-KR" dirty="0"/>
              <a:t>- </a:t>
            </a:r>
            <a:r>
              <a:rPr lang="ko-KR" altLang="en-US" dirty="0"/>
              <a:t>실제로는 빈 좌석이지만 시스템상 사용 중으로 표시 </a:t>
            </a:r>
            <a:r>
              <a:rPr lang="en-US" altLang="ko-KR" dirty="0"/>
              <a:t>- </a:t>
            </a:r>
            <a:r>
              <a:rPr lang="ko-KR" altLang="en-US" dirty="0"/>
              <a:t>다른 학생들이 이용 불가능한 문제 빈번 발생 </a:t>
            </a: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/>
              <a:t>본 시스템의 목적</a:t>
            </a:r>
            <a:r>
              <a:rPr lang="en-US" altLang="ko-KR" dirty="0"/>
              <a:t>: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dirty="0"/>
              <a:t>   </a:t>
            </a:r>
            <a:r>
              <a:rPr lang="en-US" altLang="ko-KR" dirty="0"/>
              <a:t>- </a:t>
            </a:r>
            <a:r>
              <a:rPr lang="ko-KR" altLang="en-US" dirty="0"/>
              <a:t>사람이 일정 시간</a:t>
            </a:r>
            <a:r>
              <a:rPr lang="en-US" altLang="ko-KR" dirty="0"/>
              <a:t>(15</a:t>
            </a:r>
            <a:r>
              <a:rPr lang="ko-KR" altLang="en-US" dirty="0"/>
              <a:t>분</a:t>
            </a:r>
            <a:r>
              <a:rPr lang="en-US" altLang="ko-KR" dirty="0"/>
              <a:t>) </a:t>
            </a:r>
            <a:r>
              <a:rPr lang="ko-KR" altLang="en-US" dirty="0"/>
              <a:t>이상 자리를 비우면 자동 퇴실 처리 </a:t>
            </a: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dirty="0"/>
              <a:t>   </a:t>
            </a:r>
            <a:r>
              <a:rPr lang="en-US" altLang="ko-KR" dirty="0"/>
              <a:t>- </a:t>
            </a:r>
            <a:r>
              <a:rPr lang="en-US" dirty="0"/>
              <a:t>AI </a:t>
            </a:r>
            <a:r>
              <a:rPr lang="ko-KR" altLang="en-US" dirty="0"/>
              <a:t>객체 인식</a:t>
            </a:r>
            <a:r>
              <a:rPr lang="en-US" altLang="ko-KR" dirty="0"/>
              <a:t>(</a:t>
            </a:r>
            <a:r>
              <a:rPr lang="en-US" dirty="0"/>
              <a:t>YOLOv5)</a:t>
            </a:r>
            <a:r>
              <a:rPr lang="ko-KR" altLang="en-US" dirty="0" err="1"/>
              <a:t>으로</a:t>
            </a:r>
            <a:r>
              <a:rPr lang="ko-KR" altLang="en-US" dirty="0"/>
              <a:t> 실제 착석 여부 확인 </a:t>
            </a: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dirty="0"/>
              <a:t>   </a:t>
            </a:r>
            <a:r>
              <a:rPr lang="en-US" altLang="ko-KR" dirty="0"/>
              <a:t>- "</a:t>
            </a:r>
            <a:r>
              <a:rPr lang="ko-KR" altLang="en-US" dirty="0"/>
              <a:t>유령 좌석</a:t>
            </a:r>
            <a:r>
              <a:rPr lang="en-US" altLang="ko-KR" dirty="0"/>
              <a:t>" </a:t>
            </a:r>
            <a:r>
              <a:rPr lang="ko-KR" altLang="en-US" dirty="0"/>
              <a:t>문제 해결 </a:t>
            </a: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dirty="0"/>
              <a:t>   </a:t>
            </a:r>
            <a:r>
              <a:rPr lang="en-US" altLang="ko-KR" dirty="0"/>
              <a:t>- </a:t>
            </a:r>
            <a:r>
              <a:rPr lang="ko-KR" altLang="en-US" dirty="0"/>
              <a:t>실질적 사용 가능 좌석 정보 제공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221367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A81C4-BD94-B686-5454-A8DB49C69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필요성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C02A9-315D-4D9E-B75C-C76110BE1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현재 도서관 시스템의 문제 상황</a:t>
            </a:r>
            <a:endParaRPr lang="en-US" altLang="ko-KR" dirty="0"/>
          </a:p>
          <a:p>
            <a:endParaRPr lang="en-US" dirty="0"/>
          </a:p>
          <a:p>
            <a:pPr marL="514350" indent="-514350">
              <a:buAutoNum type="arabicPeriod"/>
            </a:pPr>
            <a:r>
              <a:rPr lang="ko-KR" altLang="en-US" dirty="0"/>
              <a:t>사용자 불편 </a:t>
            </a:r>
            <a:r>
              <a:rPr lang="en-US" altLang="ko-KR" dirty="0"/>
              <a:t>- </a:t>
            </a:r>
            <a:r>
              <a:rPr lang="ko-KR" altLang="en-US" dirty="0"/>
              <a:t>퇴실 버튼을 깜빡하고 나가는 학생 다수</a:t>
            </a:r>
            <a:r>
              <a:rPr lang="en-US" altLang="ko-KR" dirty="0"/>
              <a:t>, </a:t>
            </a:r>
            <a:r>
              <a:rPr lang="ko-KR" altLang="en-US" dirty="0"/>
              <a:t>시스템상 만석이지만 실제로는 빈 좌석 많음</a:t>
            </a:r>
            <a:r>
              <a:rPr lang="en-US" altLang="ko-KR" dirty="0"/>
              <a:t>, </a:t>
            </a:r>
            <a:r>
              <a:rPr lang="ko-KR" altLang="en-US" dirty="0"/>
              <a:t>이용 원하는 학생들의 접근성 제한 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관리자 부담 </a:t>
            </a:r>
            <a:r>
              <a:rPr lang="en-US" altLang="ko-KR" dirty="0"/>
              <a:t>- </a:t>
            </a:r>
            <a:r>
              <a:rPr lang="ko-KR" altLang="en-US" dirty="0"/>
              <a:t>수동으로 좌석 상태 확인 및 초기화 필요</a:t>
            </a:r>
            <a:r>
              <a:rPr lang="en-US" altLang="ko-KR" dirty="0"/>
              <a:t>, </a:t>
            </a:r>
            <a:r>
              <a:rPr lang="ko-KR" altLang="en-US" dirty="0"/>
              <a:t>관리 불편 → 방치 → 이용 불가 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시험기간 악화 </a:t>
            </a:r>
            <a:r>
              <a:rPr lang="en-US" altLang="ko-KR" dirty="0"/>
              <a:t>- </a:t>
            </a:r>
            <a:r>
              <a:rPr lang="ko-KR" altLang="en-US" dirty="0"/>
              <a:t>시험기간에 문제 심각해짐</a:t>
            </a:r>
            <a:r>
              <a:rPr lang="en-US" altLang="ko-KR" dirty="0"/>
              <a:t>, </a:t>
            </a:r>
            <a:r>
              <a:rPr lang="ko-KR" altLang="en-US" dirty="0"/>
              <a:t>대학교 커뮤니티에 불편 호소 게시글 다수</a:t>
            </a:r>
            <a:r>
              <a:rPr lang="en-US" altLang="ko-KR" dirty="0"/>
              <a:t>, </a:t>
            </a:r>
            <a:r>
              <a:rPr lang="ko-KR" altLang="en-US" dirty="0"/>
              <a:t>도서관 공간 활용도 현저히 저하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715791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4C1EC-1775-B376-4F02-FD0A9E8D2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-375029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기능 </a:t>
            </a:r>
            <a:r>
              <a:rPr lang="en-US" altLang="ko-KR" sz="2000" dirty="0"/>
              <a:t>-</a:t>
            </a:r>
            <a:r>
              <a:rPr lang="ko-KR" altLang="en-US" sz="2000" dirty="0"/>
              <a:t> 조건대비표</a:t>
            </a:r>
            <a:endParaRPr lang="en-KR" sz="20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B717047-168B-FD19-C3C2-D38BA9BB0C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0281403"/>
              </p:ext>
            </p:extLst>
          </p:nvPr>
        </p:nvGraphicFramePr>
        <p:xfrm>
          <a:off x="148838" y="433042"/>
          <a:ext cx="11826240" cy="639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376">
                  <a:extLst>
                    <a:ext uri="{9D8B030D-6E8A-4147-A177-3AD203B41FA5}">
                      <a16:colId xmlns:a16="http://schemas.microsoft.com/office/drawing/2014/main" val="3050830303"/>
                    </a:ext>
                  </a:extLst>
                </a:gridCol>
                <a:gridCol w="5023104">
                  <a:extLst>
                    <a:ext uri="{9D8B030D-6E8A-4147-A177-3AD203B41FA5}">
                      <a16:colId xmlns:a16="http://schemas.microsoft.com/office/drawing/2014/main" val="3371045176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3253121725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162924656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41774285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시스템 구분</a:t>
                      </a:r>
                      <a:endParaRPr lang="en-K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세부기능</a:t>
                      </a:r>
                      <a:endParaRPr lang="en-K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구현여부</a:t>
                      </a:r>
                      <a:endParaRPr lang="en-K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대체여부</a:t>
                      </a:r>
                      <a:endParaRPr lang="en-K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소스파일명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함수 또는 </a:t>
                      </a:r>
                      <a:r>
                        <a:rPr lang="en-US" altLang="ko-KR" sz="1000" dirty="0"/>
                        <a:t>class</a:t>
                      </a:r>
                      <a:r>
                        <a:rPr lang="ko-KR" altLang="en-US" sz="1000" dirty="0"/>
                        <a:t>명</a:t>
                      </a:r>
                      <a:r>
                        <a:rPr lang="en-US" altLang="ko-KR" sz="1000" dirty="0"/>
                        <a:t>)</a:t>
                      </a:r>
                      <a:endParaRPr lang="en-K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104363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r>
                        <a:rPr lang="en-KR" sz="900" dirty="0"/>
                        <a:t>1. Edge System(Python</a:t>
                      </a:r>
                      <a:r>
                        <a:rPr lang="ko-KR" altLang="en-US" sz="900" dirty="0"/>
                        <a:t>기반</a:t>
                      </a:r>
                      <a:r>
                        <a:rPr lang="en-US" altLang="ko-KR" sz="900" dirty="0"/>
                        <a:t>,</a:t>
                      </a:r>
                      <a:r>
                        <a:rPr lang="ko-KR" altLang="en-US" sz="900" dirty="0"/>
                        <a:t> 공통</a:t>
                      </a:r>
                      <a:r>
                        <a:rPr lang="en-US" altLang="ko-KR" sz="900" dirty="0"/>
                        <a:t>)</a:t>
                      </a:r>
                      <a:endParaRPr lang="en-KR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1-1. YoloV5 pretrained model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대체 가능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O</a:t>
                      </a:r>
                      <a:endParaRPr lang="en-KR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KR" sz="900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 dirty="0" err="1"/>
                        <a:t>seat_detection.py</a:t>
                      </a:r>
                      <a:endParaRPr lang="en-KR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045877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1-2. </a:t>
                      </a:r>
                      <a:r>
                        <a:rPr lang="en-US" sz="9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coco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훈련데이터 기준 검출 객체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Classes) : 80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가지 객체 검출 기능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대체 가능 함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O</a:t>
                      </a:r>
                      <a:endParaRPr lang="en-KR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</a:t>
                      </a:r>
                      <a:endParaRPr kumimoji="0" lang="en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KR" sz="9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548403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1-3.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 종류의 객체를 동일한 객체로 가능한 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Change Detection(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대체가능 함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O</a:t>
                      </a:r>
                      <a:endParaRPr lang="en-KR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</a:t>
                      </a:r>
                      <a:endParaRPr kumimoji="0" lang="en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KR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71366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1-4.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게시를 위한 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 </a:t>
                      </a:r>
                      <a:r>
                        <a:rPr lang="en-US" sz="9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Restfull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API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공통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O</a:t>
                      </a:r>
                      <a:endParaRPr lang="en-KR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KR" sz="9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815211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1-5.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기타 추가기능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더 있을 경우 아래 표 추가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-</a:t>
                      </a:r>
                      <a:r>
                        <a:rPr lang="ko-KR" altLang="en-US" sz="900" dirty="0"/>
                        <a:t> 좌석 </a:t>
                      </a:r>
                      <a:r>
                        <a:rPr lang="en-US" sz="900" dirty="0"/>
                        <a:t>ROI(Region of Interest) </a:t>
                      </a:r>
                      <a:r>
                        <a:rPr lang="ko-KR" altLang="en-US" sz="900" dirty="0"/>
                        <a:t>설정 </a:t>
                      </a:r>
                      <a:r>
                        <a:rPr lang="en-US" altLang="ko-KR" sz="900" dirty="0"/>
                        <a:t>(4</a:t>
                      </a:r>
                      <a:r>
                        <a:rPr lang="ko-KR" altLang="en-US" sz="900" dirty="0"/>
                        <a:t>개 좌석</a:t>
                      </a:r>
                      <a:r>
                        <a:rPr lang="en-US" altLang="ko-KR" sz="900" dirty="0"/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-</a:t>
                      </a:r>
                      <a:r>
                        <a:rPr lang="ko-KR" altLang="en-US" sz="900" dirty="0"/>
                        <a:t> 실시간 </a:t>
                      </a:r>
                      <a:r>
                        <a:rPr lang="en-US" sz="900" dirty="0"/>
                        <a:t>Person Detection (Confidence 0.5 </a:t>
                      </a:r>
                      <a:r>
                        <a:rPr lang="ko-KR" altLang="en-US" sz="900" dirty="0"/>
                        <a:t>이상</a:t>
                      </a:r>
                      <a:r>
                        <a:rPr lang="en-US" altLang="ko-KR" sz="900" dirty="0"/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-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5</a:t>
                      </a:r>
                      <a:r>
                        <a:rPr lang="ko-KR" altLang="en-US" sz="900" dirty="0"/>
                        <a:t>초마다 서버에 감지 결과 전송</a:t>
                      </a:r>
                      <a:endParaRPr lang="en-US" altLang="ko-KR" sz="9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-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sz="900" dirty="0"/>
                        <a:t>ROI </a:t>
                      </a:r>
                      <a:r>
                        <a:rPr lang="ko-KR" altLang="en-US" sz="900" dirty="0"/>
                        <a:t>시각화 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초록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빨강 박스</a:t>
                      </a:r>
                      <a:r>
                        <a:rPr lang="en-US" altLang="ko-KR" sz="900" dirty="0"/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-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sz="900" dirty="0"/>
                        <a:t>Frame count </a:t>
                      </a:r>
                      <a:r>
                        <a:rPr lang="ko-KR" altLang="en-US" sz="900" dirty="0"/>
                        <a:t>표시 </a:t>
                      </a:r>
                      <a:endParaRPr lang="en-US" altLang="ko-KR" sz="9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O</a:t>
                      </a:r>
                      <a:endParaRPr lang="en-KR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KR" sz="9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KR" sz="9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7579749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r>
                        <a:rPr lang="en-US" altLang="ko-KR" sz="900" dirty="0"/>
                        <a:t>2.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Service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System(Python,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Django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기반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r>
                        <a:rPr lang="en-US" sz="9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Pythonanywhere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클라우드상 서비스 구동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일부 확장 기능 가능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2-1.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사용자 보안 기능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보안키를 이용한 로그인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공통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dirty="0"/>
                        <a:t>JWT </a:t>
                      </a:r>
                      <a:r>
                        <a:rPr lang="ko-KR" altLang="en-US" sz="900" dirty="0"/>
                        <a:t>토큰 인증 구현 </a:t>
                      </a:r>
                      <a:endParaRPr lang="en-US" altLang="ko-KR" sz="9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O</a:t>
                      </a:r>
                      <a:endParaRPr lang="en-KR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 dirty="0" err="1"/>
                        <a:t>views.py</a:t>
                      </a:r>
                      <a:r>
                        <a:rPr lang="en-US" altLang="ko-KR" sz="900" dirty="0"/>
                        <a:t>(</a:t>
                      </a:r>
                      <a:r>
                        <a:rPr lang="en-US" sz="900" dirty="0" err="1"/>
                        <a:t>BlogImages</a:t>
                      </a:r>
                      <a:r>
                        <a:rPr lang="en-US" sz="900" dirty="0"/>
                        <a:t>,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sz="900" dirty="0" err="1"/>
                        <a:t>SeatViewSet</a:t>
                      </a:r>
                      <a:r>
                        <a:rPr lang="en-US" sz="900" dirty="0"/>
                        <a:t>)</a:t>
                      </a:r>
                      <a:endParaRPr lang="en-KR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133879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2-2. Image Blog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관리 기능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공통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일부 확장 기능 가능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O</a:t>
                      </a:r>
                      <a:endParaRPr lang="en-KR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 dirty="0" err="1"/>
                        <a:t>models.py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sz="900" dirty="0"/>
                        <a:t>(Post, Seat)</a:t>
                      </a:r>
                      <a:endParaRPr lang="en-KR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67657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2-3.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게시를 위한 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 </a:t>
                      </a:r>
                      <a:r>
                        <a:rPr lang="en-US" sz="9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Restfull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API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제공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공통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O</a:t>
                      </a:r>
                      <a:endParaRPr lang="en-KR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 dirty="0" err="1"/>
                        <a:t>serializers.py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(</a:t>
                      </a:r>
                      <a:r>
                        <a:rPr lang="en-US" sz="900" dirty="0" err="1"/>
                        <a:t>PostSerializer</a:t>
                      </a:r>
                      <a:r>
                        <a:rPr lang="en-US" altLang="ko-KR" sz="900" dirty="0"/>
                        <a:t>,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sz="900" dirty="0" err="1"/>
                        <a:t>SeatSerializer</a:t>
                      </a:r>
                      <a:r>
                        <a:rPr lang="en-US" sz="900" dirty="0"/>
                        <a:t>)</a:t>
                      </a:r>
                      <a:endParaRPr lang="en-KR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91074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2-4. Image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목록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획득을 위한 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 </a:t>
                      </a:r>
                      <a:r>
                        <a:rPr lang="en-US" sz="9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Restfull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API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제공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신규 추가 필요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O</a:t>
                      </a:r>
                      <a:endParaRPr lang="en-KR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 dirty="0" err="1"/>
                        <a:t>urls.py</a:t>
                      </a:r>
                      <a:endParaRPr lang="en-KR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2036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2-5.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기타 추가 기능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더 있을 경우 아래 표 추가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dirty="0"/>
                        <a:t>Seat </a:t>
                      </a:r>
                      <a:r>
                        <a:rPr lang="ko-KR" altLang="en-US" sz="900" dirty="0"/>
                        <a:t>모델 추가 </a:t>
                      </a:r>
                      <a:r>
                        <a:rPr lang="en-US" altLang="ko-KR" sz="900" dirty="0"/>
                        <a:t>(30</a:t>
                      </a:r>
                      <a:r>
                        <a:rPr lang="ko-KR" altLang="en-US" sz="900" dirty="0"/>
                        <a:t>개 좌석 관리</a:t>
                      </a:r>
                      <a:r>
                        <a:rPr lang="en-US" altLang="ko-KR" sz="900" dirty="0"/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dirty="0"/>
                        <a:t>자동 퇴실 로직 </a:t>
                      </a:r>
                      <a:r>
                        <a:rPr lang="en-US" altLang="ko-KR" sz="900" dirty="0"/>
                        <a:t>(15</a:t>
                      </a:r>
                      <a:r>
                        <a:rPr lang="ko-KR" altLang="en-US" sz="900" dirty="0"/>
                        <a:t>분 미감지 시</a:t>
                      </a:r>
                      <a:r>
                        <a:rPr lang="en-US" altLang="ko-KR" sz="900" dirty="0"/>
                        <a:t>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dirty="0"/>
                        <a:t>실시간 좌석 상태 업데이트 </a:t>
                      </a:r>
                      <a:endParaRPr lang="en-US" altLang="ko-KR" sz="9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dirty="0" err="1"/>
                        <a:t>last_detected_at</a:t>
                      </a:r>
                      <a:r>
                        <a:rPr lang="en-US" sz="900" dirty="0"/>
                        <a:t> </a:t>
                      </a:r>
                      <a:r>
                        <a:rPr lang="ko-KR" altLang="en-US" sz="900" dirty="0"/>
                        <a:t>시간 추적</a:t>
                      </a:r>
                      <a:endParaRPr lang="en-US" altLang="ko-KR" sz="9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O</a:t>
                      </a:r>
                      <a:endParaRPr lang="en-KR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KR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6910584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Client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System(Android,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Native App,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개별 제안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3.1. Image list view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기능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공통 기능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개별 제안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dirty="0"/>
                        <a:t>좌석 배치도 </a:t>
                      </a:r>
                      <a:r>
                        <a:rPr lang="en-US" sz="900" dirty="0" err="1"/>
                        <a:t>GridView</a:t>
                      </a:r>
                      <a:r>
                        <a:rPr lang="en-US" sz="900" dirty="0"/>
                        <a:t> (5x6 = 30</a:t>
                      </a:r>
                      <a:r>
                        <a:rPr lang="ko-KR" altLang="en-US" sz="900" dirty="0"/>
                        <a:t>석</a:t>
                      </a:r>
                      <a:r>
                        <a:rPr lang="en-US" altLang="ko-KR" sz="900" dirty="0"/>
                        <a:t>)</a:t>
                      </a:r>
                      <a:endParaRPr lang="en-US" altLang="ko-KR" sz="9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O</a:t>
                      </a:r>
                      <a:endParaRPr lang="en-KR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 dirty="0" err="1"/>
                        <a:t>MainActivity.java</a:t>
                      </a:r>
                      <a:endParaRPr lang="en-KR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38605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3.2. Image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목록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획득을 위한 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 </a:t>
                      </a:r>
                      <a:r>
                        <a:rPr lang="en-US" sz="9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Restfull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API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신규 추가 필요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O</a:t>
                      </a:r>
                      <a:endParaRPr lang="en-KR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sz="900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 dirty="0" err="1"/>
                        <a:t>Seat.java</a:t>
                      </a:r>
                      <a:r>
                        <a:rPr lang="en-US" altLang="ko-KR" sz="900" dirty="0"/>
                        <a:t>,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sz="900" dirty="0" err="1"/>
                        <a:t>SeatAdapter.java</a:t>
                      </a:r>
                      <a:endParaRPr lang="en-KR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820345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3.3.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공통기능 및 추가기능을 활용한 사용자 시나리오 및 </a:t>
                      </a:r>
                      <a:r>
                        <a:rPr 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UI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제공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신규 추가 필요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O</a:t>
                      </a:r>
                      <a:endParaRPr lang="en-KR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-</a:t>
                      </a:r>
                      <a:endParaRPr kumimoji="0" lang="en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 dirty="0" err="1"/>
                        <a:t>activity_main.xml</a:t>
                      </a:r>
                      <a:r>
                        <a:rPr lang="en-US" altLang="ko-KR" sz="900" dirty="0"/>
                        <a:t>,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sz="900" dirty="0" err="1"/>
                        <a:t>item_seat.xml</a:t>
                      </a:r>
                      <a:endParaRPr lang="en-KR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08233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3-4.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추가 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O</a:t>
                      </a:r>
                      <a:endParaRPr lang="en-KR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 dirty="0" err="1"/>
                        <a:t>AndroidManifest.xml</a:t>
                      </a:r>
                      <a:r>
                        <a:rPr lang="en-US" sz="900" dirty="0"/>
                        <a:t> </a:t>
                      </a:r>
                      <a:endParaRPr lang="en-KR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6347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5376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75C12-E8FB-C745-84AE-BB7BCB137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추가 구현사항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796EE-2F94-185F-8FEE-6281B8D5D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dirty="0"/>
              <a:t>Edge System: YOLO Person Detection + ROI </a:t>
            </a:r>
            <a:r>
              <a:rPr lang="ko-KR" altLang="en-US" dirty="0"/>
              <a:t>기반 좌석 모니터링 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dirty="0"/>
              <a:t>Service System: Django REST API + JWT </a:t>
            </a:r>
            <a:r>
              <a:rPr lang="ko-KR" altLang="en-US" dirty="0"/>
              <a:t>인증 </a:t>
            </a:r>
            <a:r>
              <a:rPr lang="en-US" altLang="ko-KR" dirty="0"/>
              <a:t>+ </a:t>
            </a:r>
            <a:r>
              <a:rPr lang="ko-KR" altLang="en-US" dirty="0"/>
              <a:t>자동 퇴실 로직 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dirty="0"/>
              <a:t>Client System: Android </a:t>
            </a:r>
            <a:r>
              <a:rPr lang="en-US" dirty="0" err="1"/>
              <a:t>GridView</a:t>
            </a:r>
            <a:r>
              <a:rPr lang="en-US" dirty="0"/>
              <a:t> + Volley HTTP + </a:t>
            </a:r>
            <a:r>
              <a:rPr lang="ko-KR" altLang="en-US" dirty="0"/>
              <a:t>실시간 갱신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전체 시스템</a:t>
            </a:r>
            <a:r>
              <a:rPr lang="en-US" altLang="ko-KR" dirty="0"/>
              <a:t>: </a:t>
            </a:r>
            <a:r>
              <a:rPr lang="en-US" dirty="0"/>
              <a:t>Edge → Server → Client 3-Tier Architecture </a:t>
            </a:r>
            <a:r>
              <a:rPr lang="ko-KR" altLang="en-US" dirty="0"/>
              <a:t>구현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442870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8F4A7-1B92-5F0E-7741-424F9CDF6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기능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1.</a:t>
            </a:r>
            <a:r>
              <a:rPr lang="ko-KR" altLang="en-US" dirty="0"/>
              <a:t> </a:t>
            </a:r>
            <a:r>
              <a:rPr lang="en-US" altLang="ko-KR" dirty="0"/>
              <a:t>Edge System(Python</a:t>
            </a:r>
            <a:r>
              <a:rPr lang="ko-KR" altLang="en-US" dirty="0"/>
              <a:t>기반</a:t>
            </a:r>
            <a:r>
              <a:rPr lang="en-US" altLang="ko-KR" dirty="0"/>
              <a:t>,</a:t>
            </a:r>
            <a:r>
              <a:rPr lang="ko-KR" altLang="en-US" dirty="0"/>
              <a:t> 공통</a:t>
            </a:r>
            <a:r>
              <a:rPr lang="en-US" altLang="ko-KR" dirty="0"/>
              <a:t>)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12A1E-F517-E786-169E-C2B6C5C1D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Edge System </a:t>
            </a:r>
            <a:r>
              <a:rPr lang="ko-KR" altLang="en-US" dirty="0"/>
              <a:t>실행 화면</a:t>
            </a:r>
          </a:p>
          <a:p>
            <a:pPr marL="0" indent="0">
              <a:buNone/>
            </a:pPr>
            <a:endParaRPr lang="ko-KR" altLang="en-US" dirty="0"/>
          </a:p>
          <a:p>
            <a:pPr marL="0" indent="0">
              <a:buNone/>
            </a:pPr>
            <a:r>
              <a:rPr lang="en-US" altLang="ko-KR" dirty="0"/>
              <a:t>- 4</a:t>
            </a:r>
            <a:r>
              <a:rPr lang="ko-KR" altLang="en-US" dirty="0"/>
              <a:t>분할 화면으로 </a:t>
            </a:r>
            <a:r>
              <a:rPr lang="en-US" altLang="ko-KR" dirty="0"/>
              <a:t>4</a:t>
            </a:r>
            <a:r>
              <a:rPr lang="ko-KR" altLang="en-US" dirty="0"/>
              <a:t>개 좌석 동시 모니터링</a:t>
            </a:r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en-US" dirty="0"/>
              <a:t>YOLO Person Detection (confidence: 0.76)</a:t>
            </a:r>
          </a:p>
          <a:p>
            <a:pPr marL="0" indent="0">
              <a:buNone/>
            </a:pPr>
            <a:r>
              <a:rPr lang="en-US" dirty="0"/>
              <a:t>- Seat 3: EMPTY (</a:t>
            </a:r>
            <a:r>
              <a:rPr lang="ko-KR" altLang="en-US" dirty="0"/>
              <a:t>초록색 박스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en-US" dirty="0"/>
              <a:t>Seat 4: OCCUPIED (</a:t>
            </a:r>
            <a:r>
              <a:rPr lang="ko-KR" altLang="en-US" dirty="0"/>
              <a:t>빨간색 박스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en-US" dirty="0"/>
              <a:t>Frame: 1745 (</a:t>
            </a:r>
            <a:r>
              <a:rPr lang="ko-KR" altLang="en-US" dirty="0"/>
              <a:t>실시간 처리 중</a:t>
            </a:r>
            <a:r>
              <a:rPr lang="en-US" altLang="ko-KR" dirty="0"/>
              <a:t>)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578105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FA4C5-0CC8-BA89-60FA-284751C82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기능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lang="en-US" altLang="ko-KR" dirty="0"/>
              <a:t>Service System (Python, Django </a:t>
            </a:r>
            <a:r>
              <a:rPr lang="ko-KR" altLang="en-US" dirty="0"/>
              <a:t>기반</a:t>
            </a:r>
            <a:r>
              <a:rPr lang="en-US" altLang="ko-KR" dirty="0"/>
              <a:t>)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26B7B-837D-2080-C2FA-227B69A0F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7066"/>
            <a:ext cx="10515600" cy="478647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Django REST API </a:t>
            </a:r>
            <a:r>
              <a:rPr lang="ko-KR" altLang="en-US" dirty="0"/>
              <a:t>동작 확인</a:t>
            </a:r>
          </a:p>
          <a:p>
            <a:pPr marL="0" indent="0">
              <a:buNone/>
            </a:pPr>
            <a:endParaRPr lang="ko-KR" altLang="en-US" dirty="0"/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좌석 목록 조회</a:t>
            </a:r>
          </a:p>
          <a:p>
            <a:pPr marL="0" indent="0">
              <a:buNone/>
            </a:pPr>
            <a:r>
              <a:rPr lang="ko-KR" altLang="en-US" dirty="0"/>
              <a:t>  </a:t>
            </a:r>
            <a:r>
              <a:rPr lang="en-US" dirty="0"/>
              <a:t>GET http://127.0.0.1:8000/</a:t>
            </a:r>
            <a:r>
              <a:rPr lang="en-US" dirty="0" err="1"/>
              <a:t>api_root</a:t>
            </a:r>
            <a:r>
              <a:rPr lang="en-US" dirty="0"/>
              <a:t>/Seat/</a:t>
            </a:r>
          </a:p>
          <a:p>
            <a:pPr marL="0" indent="0">
              <a:buNone/>
            </a:pPr>
            <a:r>
              <a:rPr lang="en-US" dirty="0"/>
              <a:t>  → 30</a:t>
            </a:r>
            <a:r>
              <a:rPr lang="ko-KR" altLang="en-US" dirty="0"/>
              <a:t>개 좌석 </a:t>
            </a:r>
            <a:r>
              <a:rPr lang="en-US" dirty="0"/>
              <a:t>JSON </a:t>
            </a:r>
            <a:r>
              <a:rPr lang="ko-KR" altLang="en-US" dirty="0"/>
              <a:t>반환</a:t>
            </a:r>
          </a:p>
          <a:p>
            <a:pPr marL="0" indent="0">
              <a:buNone/>
            </a:pPr>
            <a:endParaRPr lang="ko-KR" altLang="en-US" dirty="0"/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좌석 예약</a:t>
            </a:r>
          </a:p>
          <a:p>
            <a:pPr marL="0" indent="0">
              <a:buNone/>
            </a:pPr>
            <a:r>
              <a:rPr lang="ko-KR" altLang="en-US" dirty="0"/>
              <a:t>  </a:t>
            </a:r>
            <a:r>
              <a:rPr lang="en-US" dirty="0"/>
              <a:t>POST /</a:t>
            </a:r>
            <a:r>
              <a:rPr lang="en-US" dirty="0" err="1"/>
              <a:t>api_root</a:t>
            </a:r>
            <a:r>
              <a:rPr lang="en-US" dirty="0"/>
              <a:t>/Seat/1/reserve/</a:t>
            </a:r>
          </a:p>
          <a:p>
            <a:pPr marL="0" indent="0">
              <a:buNone/>
            </a:pPr>
            <a:r>
              <a:rPr lang="en-US" dirty="0"/>
              <a:t>  Body: {"</a:t>
            </a:r>
            <a:r>
              <a:rPr lang="en-US" dirty="0" err="1"/>
              <a:t>user_name</a:t>
            </a:r>
            <a:r>
              <a:rPr lang="en-US" dirty="0"/>
              <a:t>": "</a:t>
            </a:r>
            <a:r>
              <a:rPr lang="ko-KR" altLang="en-US" dirty="0"/>
              <a:t>정윤미</a:t>
            </a:r>
            <a:r>
              <a:rPr lang="en-US" altLang="ko-KR" dirty="0"/>
              <a:t>"}</a:t>
            </a:r>
          </a:p>
          <a:p>
            <a:pPr marL="0" indent="0">
              <a:buNone/>
            </a:pPr>
            <a:r>
              <a:rPr lang="en-US" altLang="ko-KR" dirty="0"/>
              <a:t>  → {"</a:t>
            </a:r>
            <a:r>
              <a:rPr lang="en-US" dirty="0" err="1"/>
              <a:t>message":"Seat</a:t>
            </a:r>
            <a:r>
              <a:rPr lang="en-US" dirty="0"/>
              <a:t> 1 reserved", "seat":{...}}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 </a:t>
            </a:r>
            <a:r>
              <a:rPr lang="ko-KR" altLang="en-US" dirty="0"/>
              <a:t>서버 로그</a:t>
            </a:r>
          </a:p>
          <a:p>
            <a:pPr marL="0" indent="0">
              <a:buNone/>
            </a:pPr>
            <a:r>
              <a:rPr lang="ko-KR" altLang="en-US" dirty="0"/>
              <a:t>  </a:t>
            </a:r>
            <a:r>
              <a:rPr lang="en-US" altLang="ko-KR" dirty="0"/>
              <a:t>[19/</a:t>
            </a:r>
            <a:r>
              <a:rPr lang="en-US" dirty="0"/>
              <a:t>Dec/2025 11:12:02] "POST /</a:t>
            </a:r>
            <a:r>
              <a:rPr lang="en-US" dirty="0" err="1"/>
              <a:t>api_root</a:t>
            </a:r>
            <a:r>
              <a:rPr lang="en-US" dirty="0"/>
              <a:t>/Seat/1/reserve/" 200</a:t>
            </a:r>
            <a:endParaRPr lang="en-KR" dirty="0"/>
          </a:p>
        </p:txBody>
      </p:sp>
      <p:pic>
        <p:nvPicPr>
          <p:cNvPr id="4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403E3084-6EBD-ABFE-8A49-E9C1F2DCE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5252" y="1072593"/>
            <a:ext cx="2839192" cy="578540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01F654C-6A83-C713-2817-8FFFCF7D7A28}"/>
              </a:ext>
            </a:extLst>
          </p:cNvPr>
          <p:cNvSpPr txBox="1">
            <a:spLocks/>
          </p:cNvSpPr>
          <p:nvPr/>
        </p:nvSpPr>
        <p:spPr>
          <a:xfrm>
            <a:off x="6180117" y="1420050"/>
            <a:ext cx="56239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700" dirty="0">
                <a:solidFill>
                  <a:srgbClr val="19376A"/>
                </a:solidFill>
                <a:effectLst/>
                <a:latin typeface="Helvetica" pitchFamily="2" charset="0"/>
              </a:rPr>
              <a:t>기능 </a:t>
            </a:r>
            <a:r>
              <a:rPr lang="en-US" altLang="ko-KR" sz="1700" dirty="0">
                <a:solidFill>
                  <a:srgbClr val="19376A"/>
                </a:solidFill>
                <a:effectLst/>
                <a:latin typeface="Helvetica" pitchFamily="2" charset="0"/>
              </a:rPr>
              <a:t>- 3. </a:t>
            </a:r>
            <a:r>
              <a:rPr lang="en-US" sz="1700" dirty="0">
                <a:solidFill>
                  <a:srgbClr val="19376A"/>
                </a:solidFill>
                <a:effectLst/>
                <a:latin typeface="Helvetica" pitchFamily="2" charset="0"/>
              </a:rPr>
              <a:t>Client System</a:t>
            </a:r>
          </a:p>
          <a:p>
            <a:r>
              <a:rPr lang="en-US" sz="1700" dirty="0">
                <a:solidFill>
                  <a:srgbClr val="19376A"/>
                </a:solidFill>
                <a:effectLst/>
                <a:latin typeface="Helvetica" pitchFamily="2" charset="0"/>
              </a:rPr>
              <a:t>(Android, Java</a:t>
            </a:r>
            <a:r>
              <a:rPr lang="ko-KR" altLang="en-US" sz="1700" dirty="0">
                <a:solidFill>
                  <a:srgbClr val="19376A"/>
                </a:solidFill>
                <a:effectLst/>
                <a:latin typeface="Helvetica" pitchFamily="2" charset="0"/>
              </a:rPr>
              <a:t>기반</a:t>
            </a:r>
            <a:r>
              <a:rPr lang="en-US" altLang="ko-KR" sz="1700" dirty="0">
                <a:solidFill>
                  <a:srgbClr val="19376A"/>
                </a:solidFill>
                <a:effectLst/>
                <a:latin typeface="Helvetica" pitchFamily="2" charset="0"/>
              </a:rPr>
              <a:t>, </a:t>
            </a:r>
            <a:r>
              <a:rPr lang="ko-KR" altLang="en-US" sz="1700" dirty="0">
                <a:solidFill>
                  <a:srgbClr val="19376A"/>
                </a:solidFill>
                <a:effectLst/>
                <a:latin typeface="Helvetica" pitchFamily="2" charset="0"/>
              </a:rPr>
              <a:t>개별 제안</a:t>
            </a:r>
            <a:r>
              <a:rPr lang="en-US" altLang="ko-KR" sz="1700" dirty="0">
                <a:solidFill>
                  <a:srgbClr val="19376A"/>
                </a:solidFill>
                <a:effectLst/>
                <a:latin typeface="Helvetica" pitchFamily="2" charset="0"/>
              </a:rPr>
              <a:t>)</a:t>
            </a:r>
            <a:endParaRPr lang="en-KR" sz="1700" dirty="0"/>
          </a:p>
        </p:txBody>
      </p:sp>
    </p:spTree>
    <p:extLst>
      <p:ext uri="{BB962C8B-B14F-4D97-AF65-F5344CB8AC3E}">
        <p14:creationId xmlns:p14="http://schemas.microsoft.com/office/powerpoint/2010/main" val="2277421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16454-72DD-D3A5-F22D-1545FA108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992"/>
            <a:ext cx="10515600" cy="1325563"/>
          </a:xfrm>
        </p:spPr>
        <p:txBody>
          <a:bodyPr/>
          <a:lstStyle/>
          <a:p>
            <a:r>
              <a:rPr lang="ko-KR" altLang="en-US" dirty="0"/>
              <a:t>사용자 시나리오 </a:t>
            </a:r>
            <a:r>
              <a:rPr lang="en-US" altLang="ko-KR" dirty="0"/>
              <a:t>(Ui </a:t>
            </a:r>
            <a:r>
              <a:rPr lang="ko-KR" altLang="en-US" dirty="0"/>
              <a:t>구성</a:t>
            </a:r>
            <a:r>
              <a:rPr lang="en-US" altLang="ko-KR" dirty="0"/>
              <a:t>)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23467-8CCE-73C1-F164-381212556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7599" y="1603269"/>
            <a:ext cx="3950263" cy="1845393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1. </a:t>
            </a:r>
            <a:r>
              <a:rPr lang="ko-KR" altLang="en-US" dirty="0"/>
              <a:t>시스템 시작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   </a:t>
            </a:r>
            <a:r>
              <a:rPr lang="en-US" altLang="ko-KR" dirty="0"/>
              <a:t>• </a:t>
            </a:r>
            <a:r>
              <a:rPr lang="ko-KR" altLang="en-US" dirty="0" err="1"/>
              <a:t>웹캠</a:t>
            </a:r>
            <a:r>
              <a:rPr lang="ko-KR" altLang="en-US" dirty="0"/>
              <a:t> 실행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   </a:t>
            </a:r>
            <a:r>
              <a:rPr lang="en-US" altLang="ko-KR" dirty="0"/>
              <a:t>• </a:t>
            </a:r>
            <a:r>
              <a:rPr lang="en-US" dirty="0"/>
              <a:t>YOLOv5 </a:t>
            </a:r>
            <a:r>
              <a:rPr lang="ko-KR" altLang="en-US" dirty="0"/>
              <a:t>모델 로드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   </a:t>
            </a:r>
            <a:r>
              <a:rPr lang="en-US" altLang="ko-KR" dirty="0"/>
              <a:t>• </a:t>
            </a:r>
            <a:r>
              <a:rPr lang="en-US" dirty="0"/>
              <a:t>JWT </a:t>
            </a:r>
            <a:r>
              <a:rPr lang="ko-KR" altLang="en-US" dirty="0"/>
              <a:t>토큰 획득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   </a:t>
            </a:r>
            <a:r>
              <a:rPr lang="en-US" altLang="ko-KR" dirty="0"/>
              <a:t>• 4</a:t>
            </a:r>
            <a:r>
              <a:rPr lang="ko-KR" altLang="en-US" dirty="0"/>
              <a:t>개 좌석 </a:t>
            </a:r>
            <a:r>
              <a:rPr lang="en-US" dirty="0"/>
              <a:t>ROI </a:t>
            </a:r>
            <a:r>
              <a:rPr lang="ko-KR" altLang="en-US" dirty="0"/>
              <a:t>설정</a:t>
            </a:r>
          </a:p>
          <a:p>
            <a:pPr marL="0" indent="0">
              <a:lnSpc>
                <a:spcPct val="100000"/>
              </a:lnSpc>
              <a:buNone/>
            </a:pPr>
            <a:endParaRPr lang="en-KR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3663103-241C-6CEC-77E3-6DADD2AAD61A}"/>
              </a:ext>
            </a:extLst>
          </p:cNvPr>
          <p:cNvSpPr txBox="1">
            <a:spLocks/>
          </p:cNvSpPr>
          <p:nvPr/>
        </p:nvSpPr>
        <p:spPr>
          <a:xfrm>
            <a:off x="5954486" y="1543380"/>
            <a:ext cx="5257800" cy="526511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ko-KR" dirty="0"/>
              <a:t>2. </a:t>
            </a:r>
            <a:r>
              <a:rPr lang="ko-KR" altLang="en-US" dirty="0"/>
              <a:t>실시간 감지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ko-KR" altLang="en-US" dirty="0"/>
              <a:t>   </a:t>
            </a:r>
            <a:r>
              <a:rPr lang="en-US" altLang="ko-KR" dirty="0"/>
              <a:t>• 5</a:t>
            </a:r>
            <a:r>
              <a:rPr lang="ko-KR" altLang="en-US" dirty="0"/>
              <a:t>초마다 각 좌석 </a:t>
            </a:r>
            <a:r>
              <a:rPr lang="en-US" dirty="0"/>
              <a:t>Person </a:t>
            </a:r>
            <a:r>
              <a:rPr lang="ko-KR" altLang="en-US" dirty="0"/>
              <a:t>감지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ko-KR" altLang="en-US" dirty="0"/>
              <a:t>   </a:t>
            </a:r>
            <a:r>
              <a:rPr lang="en-US" altLang="ko-KR" dirty="0"/>
              <a:t>• </a:t>
            </a:r>
            <a:r>
              <a:rPr lang="ko-KR" altLang="en-US" dirty="0"/>
              <a:t>감지 결과를 서버에 전송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ko-KR" altLang="en-US" dirty="0"/>
              <a:t>   </a:t>
            </a:r>
            <a:r>
              <a:rPr lang="en-US" altLang="ko-KR" dirty="0"/>
              <a:t>• </a:t>
            </a:r>
            <a:r>
              <a:rPr lang="ko-KR" altLang="en-US" dirty="0"/>
              <a:t>화면에 </a:t>
            </a:r>
            <a:r>
              <a:rPr lang="en-US" dirty="0"/>
              <a:t>ROI </a:t>
            </a:r>
            <a:r>
              <a:rPr lang="ko-KR" altLang="en-US" dirty="0"/>
              <a:t>박스 표시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ko-KR" altLang="en-US" dirty="0"/>
              <a:t>     </a:t>
            </a:r>
            <a:r>
              <a:rPr lang="en-US" altLang="ko-KR" dirty="0"/>
              <a:t>- </a:t>
            </a:r>
            <a:r>
              <a:rPr lang="ko-KR" altLang="en-US" dirty="0"/>
              <a:t>초록색</a:t>
            </a:r>
            <a:r>
              <a:rPr lang="en-US" altLang="ko-KR" dirty="0"/>
              <a:t>: </a:t>
            </a:r>
            <a:r>
              <a:rPr lang="ko-KR" altLang="en-US" dirty="0"/>
              <a:t>빈 좌석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ko-KR" altLang="en-US" dirty="0"/>
              <a:t>     </a:t>
            </a:r>
            <a:r>
              <a:rPr lang="en-US" altLang="ko-KR" dirty="0"/>
              <a:t>- </a:t>
            </a:r>
            <a:r>
              <a:rPr lang="ko-KR" altLang="en-US" dirty="0"/>
              <a:t>빨간색</a:t>
            </a:r>
            <a:r>
              <a:rPr lang="en-US" altLang="ko-KR" dirty="0"/>
              <a:t>: </a:t>
            </a:r>
            <a:r>
              <a:rPr lang="ko-KR" altLang="en-US" dirty="0"/>
              <a:t>사용 중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endParaRPr lang="ko-KR" altLang="en-US" dirty="0"/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ko-KR" dirty="0"/>
              <a:t>3. </a:t>
            </a:r>
            <a:r>
              <a:rPr lang="ko-KR" altLang="en-US" dirty="0"/>
              <a:t>서버 연동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ko-KR" altLang="en-US" dirty="0"/>
              <a:t>   </a:t>
            </a:r>
            <a:r>
              <a:rPr lang="en-US" altLang="ko-KR" dirty="0"/>
              <a:t>• </a:t>
            </a:r>
            <a:r>
              <a:rPr lang="en-US" dirty="0"/>
              <a:t>POST /</a:t>
            </a:r>
            <a:r>
              <a:rPr lang="en-US" dirty="0" err="1"/>
              <a:t>api_root</a:t>
            </a:r>
            <a:r>
              <a:rPr lang="en-US" dirty="0"/>
              <a:t>/Seat/</a:t>
            </a:r>
            <a:r>
              <a:rPr lang="en-US" dirty="0" err="1"/>
              <a:t>update_from_edge</a:t>
            </a:r>
            <a:r>
              <a:rPr lang="en-US" dirty="0"/>
              <a:t>/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dirty="0"/>
              <a:t>   • </a:t>
            </a:r>
            <a:r>
              <a:rPr lang="en-US" dirty="0" err="1"/>
              <a:t>last_detected_at</a:t>
            </a:r>
            <a:r>
              <a:rPr lang="en-US" dirty="0"/>
              <a:t> </a:t>
            </a:r>
            <a:r>
              <a:rPr lang="ko-KR" altLang="en-US" dirty="0"/>
              <a:t>시간 업데이트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ko-KR" altLang="en-US" dirty="0"/>
              <a:t>   </a:t>
            </a:r>
            <a:r>
              <a:rPr lang="en-US" altLang="ko-KR" dirty="0"/>
              <a:t>• 15</a:t>
            </a:r>
            <a:r>
              <a:rPr lang="ko-KR" altLang="en-US" dirty="0"/>
              <a:t>분 미감지 시 자동 퇴실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579982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4769A-FD19-FCC3-0EF0-F8380D06B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기대효과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21663-6FE6-B021-7D45-62B0DF57F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4700451" cy="478647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ko-KR" altLang="en-US" dirty="0"/>
              <a:t>기대효과 </a:t>
            </a:r>
            <a:r>
              <a:rPr lang="en-US" altLang="ko-KR" dirty="0"/>
              <a:t>- </a:t>
            </a:r>
            <a:r>
              <a:rPr lang="ko-KR" altLang="en-US" dirty="0"/>
              <a:t>도서관 이용자 측면</a:t>
            </a:r>
          </a:p>
          <a:p>
            <a:pPr marL="0" indent="0">
              <a:buNone/>
            </a:pPr>
            <a:endParaRPr lang="ko-KR" altLang="en-US" dirty="0"/>
          </a:p>
          <a:p>
            <a:pPr marL="0" indent="0">
              <a:buNone/>
            </a:pPr>
            <a:r>
              <a:rPr lang="en-KR" dirty="0"/>
              <a:t>✅ </a:t>
            </a:r>
            <a:r>
              <a:rPr lang="ko-KR" altLang="en-US" dirty="0"/>
              <a:t>편의성 증대</a:t>
            </a:r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앱으로 실질적으로 빈 좌석 확인 가능</a:t>
            </a:r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헛걸음 방지 </a:t>
            </a:r>
            <a:r>
              <a:rPr lang="en-US" altLang="ko-KR" dirty="0"/>
              <a:t>(</a:t>
            </a:r>
            <a:r>
              <a:rPr lang="ko-KR" altLang="en-US" dirty="0"/>
              <a:t>시스템상 만석이지만 실제 빈 좌석 확인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언제 어디서나 좌석 현황 조회</a:t>
            </a:r>
          </a:p>
          <a:p>
            <a:pPr marL="0" indent="0">
              <a:buNone/>
            </a:pPr>
            <a:endParaRPr lang="ko-KR" altLang="en-US" dirty="0"/>
          </a:p>
          <a:p>
            <a:pPr marL="0" indent="0">
              <a:buNone/>
            </a:pPr>
            <a:r>
              <a:rPr lang="en-KR" dirty="0"/>
              <a:t>✅ </a:t>
            </a:r>
            <a:r>
              <a:rPr lang="ko-KR" altLang="en-US" dirty="0"/>
              <a:t>예약 성공률 향상</a:t>
            </a:r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유령 좌석 제거로 실제 예약 가능 좌석 증가</a:t>
            </a:r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자동 퇴실로 좌석 회전율 상승</a:t>
            </a:r>
          </a:p>
          <a:p>
            <a:pPr marL="0" indent="0">
              <a:buNone/>
            </a:pPr>
            <a:endParaRPr lang="ko-KR" altLang="en-US" dirty="0"/>
          </a:p>
          <a:p>
            <a:pPr marL="0" indent="0">
              <a:buNone/>
            </a:pPr>
            <a:r>
              <a:rPr lang="en-KR" dirty="0"/>
              <a:t>✅ </a:t>
            </a:r>
            <a:r>
              <a:rPr lang="ko-KR" altLang="en-US" dirty="0"/>
              <a:t>사용자 경험 개선</a:t>
            </a:r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수동 퇴실 버튼 누를 필요 없음 </a:t>
            </a:r>
            <a:r>
              <a:rPr lang="en-US" altLang="ko-KR" dirty="0"/>
              <a:t>(</a:t>
            </a:r>
            <a:r>
              <a:rPr lang="ko-KR" altLang="en-US" dirty="0"/>
              <a:t>자동 처리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커뮤니티 불만 감소</a:t>
            </a:r>
            <a:endParaRPr lang="en-KR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1ED2A5F-2F81-0B5C-6537-F3C18EA735C8}"/>
              </a:ext>
            </a:extLst>
          </p:cNvPr>
          <p:cNvSpPr txBox="1">
            <a:spLocks/>
          </p:cNvSpPr>
          <p:nvPr/>
        </p:nvSpPr>
        <p:spPr>
          <a:xfrm>
            <a:off x="6307988" y="487206"/>
            <a:ext cx="4700451" cy="6370794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기대효과 </a:t>
            </a:r>
            <a:r>
              <a:rPr lang="en-US" altLang="ko-KR" dirty="0"/>
              <a:t>- </a:t>
            </a:r>
            <a:r>
              <a:rPr lang="ko-KR" altLang="en-US" dirty="0"/>
              <a:t>도서관 운영자 측면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ko-KR" alt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✅ 관리 효율성 증대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- </a:t>
            </a:r>
            <a:r>
              <a:rPr lang="ko-KR" altLang="en-US" dirty="0"/>
              <a:t>자동화로 관리 인력 절감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- </a:t>
            </a:r>
            <a:r>
              <a:rPr lang="ko-KR" altLang="en-US" dirty="0"/>
              <a:t>수동 좌석 초기화 작업 불필요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- </a:t>
            </a:r>
            <a:r>
              <a:rPr lang="ko-KR" altLang="en-US" dirty="0"/>
              <a:t>실시간 데이터 기반 운영 가능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ko-KR" alt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✅ 좌석 회전율 향상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- </a:t>
            </a:r>
            <a:r>
              <a:rPr lang="ko-KR" altLang="en-US" dirty="0"/>
              <a:t>실제 빈 좌석 즉시 반납 → 공간 활용도 극대화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- </a:t>
            </a:r>
            <a:r>
              <a:rPr lang="ko-KR" altLang="en-US" dirty="0"/>
              <a:t>시험기간 도서관 수용 인원 증가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ko-KR" alt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✅ 데이터 수집 및 활용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- </a:t>
            </a:r>
            <a:r>
              <a:rPr lang="ko-KR" altLang="en-US" dirty="0"/>
              <a:t>시간대별</a:t>
            </a:r>
            <a:r>
              <a:rPr lang="en-US" altLang="ko-KR" dirty="0"/>
              <a:t>, </a:t>
            </a:r>
            <a:r>
              <a:rPr lang="ko-KR" altLang="en-US" dirty="0" err="1"/>
              <a:t>요일별</a:t>
            </a:r>
            <a:r>
              <a:rPr lang="en-US" altLang="ko-KR" dirty="0"/>
              <a:t>, </a:t>
            </a:r>
            <a:r>
              <a:rPr lang="ko-KR" altLang="en-US" dirty="0" err="1"/>
              <a:t>학기별</a:t>
            </a:r>
            <a:r>
              <a:rPr lang="ko-KR" altLang="en-US" dirty="0"/>
              <a:t> 이용 패턴 파악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- </a:t>
            </a:r>
            <a:r>
              <a:rPr lang="ko-KR" altLang="en-US" dirty="0"/>
              <a:t>좌석 배치 최적화에 활용 가능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- </a:t>
            </a:r>
            <a:r>
              <a:rPr lang="ko-KR" altLang="en-US" dirty="0"/>
              <a:t>자동 퇴실 통계로 정책 개선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ko-KR" alt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✅ 민원 감소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- </a:t>
            </a:r>
            <a:r>
              <a:rPr lang="ko-KR" altLang="en-US" dirty="0"/>
              <a:t>시스템 자동화로 관리 문제 해결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- </a:t>
            </a:r>
            <a:r>
              <a:rPr lang="ko-KR" altLang="en-US" dirty="0"/>
              <a:t>이용자 만족도 상승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381725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6AF84-937B-34FE-1612-C43E629B8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D64BE-4808-DD2D-7515-E721FF835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4D192-04F1-12B0-7EBE-FBA75927A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037" y="1710795"/>
            <a:ext cx="5687546" cy="4786472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dirty="0"/>
              <a:t>구현 완료 사항 </a:t>
            </a:r>
            <a:endParaRPr lang="en-US" altLang="ko-KR" dirty="0"/>
          </a:p>
          <a:p>
            <a:pPr>
              <a:lnSpc>
                <a:spcPct val="120000"/>
              </a:lnSpc>
              <a:buFontTx/>
              <a:buChar char="-"/>
            </a:pPr>
            <a:r>
              <a:rPr lang="en-US" dirty="0"/>
              <a:t>Edge System: YOLOv5 </a:t>
            </a:r>
            <a:r>
              <a:rPr lang="ko-KR" altLang="en-US" dirty="0"/>
              <a:t>기반 실시간 좌석 감지 </a:t>
            </a:r>
            <a:endParaRPr lang="en-KR" dirty="0"/>
          </a:p>
          <a:p>
            <a:pPr>
              <a:lnSpc>
                <a:spcPct val="120000"/>
              </a:lnSpc>
              <a:buFontTx/>
              <a:buChar char="-"/>
            </a:pPr>
            <a:r>
              <a:rPr lang="en-KR" dirty="0"/>
              <a:t>- </a:t>
            </a:r>
            <a:r>
              <a:rPr lang="en-US" dirty="0"/>
              <a:t>Service System: Django REST API </a:t>
            </a:r>
            <a:r>
              <a:rPr lang="ko-KR" altLang="en-US" dirty="0"/>
              <a:t>서버</a:t>
            </a:r>
            <a:r>
              <a:rPr lang="en-KR" dirty="0"/>
              <a:t> </a:t>
            </a:r>
          </a:p>
          <a:p>
            <a:pPr>
              <a:lnSpc>
                <a:spcPct val="120000"/>
              </a:lnSpc>
              <a:buFontTx/>
              <a:buChar char="-"/>
            </a:pPr>
            <a:r>
              <a:rPr lang="en-KR" dirty="0"/>
              <a:t>- </a:t>
            </a:r>
            <a:r>
              <a:rPr lang="en-US" dirty="0"/>
              <a:t>Client System: Android </a:t>
            </a:r>
            <a:r>
              <a:rPr lang="ko-KR" altLang="en-US" dirty="0"/>
              <a:t>좌석 배치도 앱</a:t>
            </a:r>
            <a:r>
              <a:rPr lang="en-KR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KR" altLang="ko-KR" dirty="0"/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dirty="0"/>
              <a:t>핵심 기능 구현 </a:t>
            </a:r>
            <a:endParaRPr lang="en-US" altLang="ko-KR" dirty="0"/>
          </a:p>
          <a:p>
            <a:pPr>
              <a:lnSpc>
                <a:spcPct val="120000"/>
              </a:lnSpc>
              <a:buFontTx/>
              <a:buChar char="-"/>
            </a:pPr>
            <a:r>
              <a:rPr lang="en-US" altLang="ko-KR" dirty="0"/>
              <a:t>4</a:t>
            </a:r>
            <a:r>
              <a:rPr lang="ko-KR" altLang="en-US" dirty="0"/>
              <a:t>개 좌석 동시 모니터링</a:t>
            </a:r>
            <a:endParaRPr lang="en-US" altLang="ko-KR" dirty="0"/>
          </a:p>
          <a:p>
            <a:pPr>
              <a:lnSpc>
                <a:spcPct val="120000"/>
              </a:lnSpc>
              <a:buFontTx/>
              <a:buChar char="-"/>
            </a:pPr>
            <a:r>
              <a:rPr lang="en-US" altLang="ko-KR" dirty="0"/>
              <a:t> </a:t>
            </a:r>
            <a:r>
              <a:rPr lang="en-US" dirty="0"/>
              <a:t>Person </a:t>
            </a:r>
            <a:r>
              <a:rPr lang="ko-KR" altLang="en-US" dirty="0"/>
              <a:t>감지 </a:t>
            </a:r>
            <a:r>
              <a:rPr lang="en-US" altLang="ko-KR" dirty="0"/>
              <a:t>(</a:t>
            </a:r>
            <a:r>
              <a:rPr lang="en-US" dirty="0"/>
              <a:t>confidence 0.76) </a:t>
            </a:r>
          </a:p>
          <a:p>
            <a:pPr>
              <a:lnSpc>
                <a:spcPct val="120000"/>
              </a:lnSpc>
              <a:buFontTx/>
              <a:buChar char="-"/>
            </a:pPr>
            <a:r>
              <a:rPr lang="en-US" dirty="0"/>
              <a:t>15</a:t>
            </a:r>
            <a:r>
              <a:rPr lang="ko-KR" altLang="en-US" dirty="0"/>
              <a:t>분 자동 퇴실 로직 </a:t>
            </a:r>
            <a:endParaRPr lang="en-US" altLang="ko-KR" dirty="0"/>
          </a:p>
          <a:p>
            <a:pPr>
              <a:lnSpc>
                <a:spcPct val="120000"/>
              </a:lnSpc>
              <a:buFontTx/>
              <a:buChar char="-"/>
            </a:pPr>
            <a:r>
              <a:rPr lang="ko-KR" altLang="en-US" dirty="0"/>
              <a:t>실시간 좌석 상태 업데이트 </a:t>
            </a:r>
            <a:endParaRPr lang="en-KR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742E17-9421-4F0C-496D-A947ECAFBA21}"/>
              </a:ext>
            </a:extLst>
          </p:cNvPr>
          <p:cNvSpPr txBox="1">
            <a:spLocks/>
          </p:cNvSpPr>
          <p:nvPr/>
        </p:nvSpPr>
        <p:spPr>
          <a:xfrm>
            <a:off x="6802307" y="1710795"/>
            <a:ext cx="5170496" cy="39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ko-KR" altLang="en-US" dirty="0"/>
              <a:t>실제 문제 해결 </a:t>
            </a:r>
            <a:endParaRPr lang="en-US" altLang="ko-KR" dirty="0"/>
          </a:p>
          <a:p>
            <a:pPr>
              <a:lnSpc>
                <a:spcPct val="110000"/>
              </a:lnSpc>
              <a:buFontTx/>
              <a:buChar char="-"/>
            </a:pPr>
            <a:r>
              <a:rPr lang="ko-KR" altLang="en-US" dirty="0"/>
              <a:t>도서관 유령 좌석 문제 해결 </a:t>
            </a:r>
            <a:endParaRPr lang="en-US" altLang="ko-KR" dirty="0"/>
          </a:p>
          <a:p>
            <a:pPr>
              <a:lnSpc>
                <a:spcPct val="110000"/>
              </a:lnSpc>
              <a:buFontTx/>
              <a:buChar char="-"/>
            </a:pPr>
            <a:r>
              <a:rPr lang="en-US" dirty="0"/>
              <a:t>AI </a:t>
            </a:r>
            <a:r>
              <a:rPr lang="ko-KR" altLang="en-US" dirty="0"/>
              <a:t>자동화로 관리 효율성 향상 </a:t>
            </a:r>
            <a:endParaRPr lang="en-US" altLang="ko-KR" dirty="0"/>
          </a:p>
          <a:p>
            <a:pPr>
              <a:lnSpc>
                <a:spcPct val="110000"/>
              </a:lnSpc>
              <a:buFontTx/>
              <a:buChar char="-"/>
            </a:pPr>
            <a:r>
              <a:rPr lang="ko-KR" altLang="en-US" dirty="0"/>
              <a:t>실시간 좌석 정보 제공 </a:t>
            </a:r>
            <a:endParaRPr lang="en-US" altLang="ko-KR" dirty="0"/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ko-KR" altLang="en-US" dirty="0"/>
              <a:t>향후 개선 방향 </a:t>
            </a:r>
            <a:endParaRPr lang="en-US" altLang="ko-KR" dirty="0"/>
          </a:p>
          <a:p>
            <a:pPr>
              <a:lnSpc>
                <a:spcPct val="110000"/>
              </a:lnSpc>
              <a:buFontTx/>
              <a:buChar char="-"/>
            </a:pPr>
            <a:r>
              <a:rPr lang="ko-KR" altLang="en-US" dirty="0"/>
              <a:t>더 많은 좌석으로 확장 </a:t>
            </a:r>
            <a:r>
              <a:rPr lang="en-US" altLang="ko-KR" dirty="0"/>
              <a:t>(30</a:t>
            </a:r>
            <a:r>
              <a:rPr lang="ko-KR" altLang="en-US" dirty="0"/>
              <a:t>석 → </a:t>
            </a:r>
            <a:r>
              <a:rPr lang="en-US" altLang="ko-KR" dirty="0"/>
              <a:t>100</a:t>
            </a:r>
            <a:r>
              <a:rPr lang="ko-KR" altLang="en-US" dirty="0"/>
              <a:t>석</a:t>
            </a:r>
            <a:r>
              <a:rPr lang="en-US" altLang="ko-KR" dirty="0"/>
              <a:t>+) </a:t>
            </a:r>
          </a:p>
          <a:p>
            <a:pPr>
              <a:lnSpc>
                <a:spcPct val="110000"/>
              </a:lnSpc>
              <a:buFontTx/>
              <a:buChar char="-"/>
            </a:pPr>
            <a:r>
              <a:rPr lang="ko-KR" altLang="en-US" dirty="0"/>
              <a:t>얼굴 인식 추가 </a:t>
            </a:r>
            <a:r>
              <a:rPr lang="en-US" altLang="ko-KR" dirty="0"/>
              <a:t>(</a:t>
            </a:r>
            <a:r>
              <a:rPr lang="ko-KR" altLang="en-US" dirty="0"/>
              <a:t>본인 확인</a:t>
            </a:r>
            <a:r>
              <a:rPr lang="en-US" altLang="ko-KR" dirty="0"/>
              <a:t>) </a:t>
            </a:r>
          </a:p>
          <a:p>
            <a:pPr>
              <a:lnSpc>
                <a:spcPct val="110000"/>
              </a:lnSpc>
              <a:buFontTx/>
              <a:buChar char="-"/>
            </a:pPr>
            <a:r>
              <a:rPr lang="ko-KR" altLang="en-US" dirty="0"/>
              <a:t>예약 시스템 고도화 </a:t>
            </a:r>
            <a:endParaRPr lang="en-US" altLang="ko-KR" dirty="0"/>
          </a:p>
          <a:p>
            <a:pPr>
              <a:lnSpc>
                <a:spcPct val="110000"/>
              </a:lnSpc>
              <a:buFontTx/>
              <a:buChar char="-"/>
            </a:pPr>
            <a:r>
              <a:rPr lang="ko-KR" altLang="en-US" dirty="0"/>
              <a:t>통계 대시보드 추가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457191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B4AD5-2896-F51B-AB87-175DD0F59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결과물 목록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6847B-6DCD-AE76-CB87-F992EB284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서비스 </a:t>
            </a:r>
            <a:r>
              <a:rPr lang="en-US" altLang="ko-KR" dirty="0"/>
              <a:t>URL:</a:t>
            </a:r>
            <a:r>
              <a:rPr lang="ko-KR" altLang="en-US" dirty="0"/>
              <a:t> </a:t>
            </a:r>
            <a:r>
              <a:rPr lang="en-US" altLang="ko-KR" dirty="0">
                <a:hlinkClick r:id="rId2"/>
              </a:rPr>
              <a:t>https://jeongyunmi2002.pythonanywhere.com/api_root/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소스코드 </a:t>
            </a:r>
            <a:r>
              <a:rPr lang="en-US" altLang="ko-KR" dirty="0"/>
              <a:t>git</a:t>
            </a:r>
            <a:r>
              <a:rPr lang="ko-KR" altLang="en-US" dirty="0"/>
              <a:t> 주소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>
                <a:hlinkClick r:id="rId3"/>
              </a:rPr>
              <a:t>https://github.com/yunmi-dev/SmartLib-seat-management</a:t>
            </a:r>
            <a:endParaRPr lang="en-US" altLang="ko-KR" dirty="0"/>
          </a:p>
          <a:p>
            <a:pPr marL="0" indent="0">
              <a:buNone/>
            </a:pPr>
            <a:endParaRPr lang="en-KR" dirty="0"/>
          </a:p>
          <a:p>
            <a:pPr marL="0" indent="0">
              <a:buNone/>
            </a:pP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680013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1679</Words>
  <Application>Microsoft Macintosh PowerPoint</Application>
  <PresentationFormat>Widescreen</PresentationFormat>
  <Paragraphs>248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Helvetica</vt:lpstr>
      <vt:lpstr>Office Theme</vt:lpstr>
      <vt:lpstr>FinalTerm 보고서 제목: SmartLib 도서관 자동 퇴실 감지 시스템</vt:lpstr>
      <vt:lpstr>목차</vt:lpstr>
      <vt:lpstr>요구조건</vt:lpstr>
      <vt:lpstr>요구조건</vt:lpstr>
      <vt:lpstr>요구조건</vt:lpstr>
      <vt:lpstr>목적</vt:lpstr>
      <vt:lpstr>필요성</vt:lpstr>
      <vt:lpstr>기능 - 조건대비표</vt:lpstr>
      <vt:lpstr>추가 구현사항</vt:lpstr>
      <vt:lpstr>기능 – 1. Edge System(Python기반, 공통)</vt:lpstr>
      <vt:lpstr>기능 – 2. Service System (Python, Django 기반)</vt:lpstr>
      <vt:lpstr>사용자 시나리오 (Ui 구성)</vt:lpstr>
      <vt:lpstr>기대효과</vt:lpstr>
      <vt:lpstr>결론</vt:lpstr>
      <vt:lpstr>결과물 목록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정윤미</dc:creator>
  <cp:lastModifiedBy>정윤미</cp:lastModifiedBy>
  <cp:revision>7</cp:revision>
  <dcterms:created xsi:type="dcterms:W3CDTF">2025-12-19T02:17:47Z</dcterms:created>
  <dcterms:modified xsi:type="dcterms:W3CDTF">2025-12-19T05:22:26Z</dcterms:modified>
</cp:coreProperties>
</file>